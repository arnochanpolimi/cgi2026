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0" r:id="rId1"/>
  </p:sldMasterIdLst>
  <p:notesMasterIdLst>
    <p:notesMasterId r:id="rId20"/>
  </p:notesMasterIdLst>
  <p:handoutMasterIdLst>
    <p:handoutMasterId r:id="rId21"/>
  </p:handoutMasterIdLst>
  <p:sldIdLst>
    <p:sldId id="256" r:id="rId2"/>
    <p:sldId id="271" r:id="rId3"/>
    <p:sldId id="270" r:id="rId4"/>
    <p:sldId id="259" r:id="rId5"/>
    <p:sldId id="274" r:id="rId6"/>
    <p:sldId id="260" r:id="rId7"/>
    <p:sldId id="257" r:id="rId8"/>
    <p:sldId id="258" r:id="rId9"/>
    <p:sldId id="277" r:id="rId10"/>
    <p:sldId id="272" r:id="rId11"/>
    <p:sldId id="273" r:id="rId12"/>
    <p:sldId id="267" r:id="rId13"/>
    <p:sldId id="261" r:id="rId14"/>
    <p:sldId id="262" r:id="rId15"/>
    <p:sldId id="264" r:id="rId16"/>
    <p:sldId id="279" r:id="rId17"/>
    <p:sldId id="266" r:id="rId18"/>
    <p:sldId id="27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a:srgbClr val="FF0000"/>
    <a:srgbClr val="B7C6D1"/>
    <a:srgbClr val="728FA5"/>
    <a:srgbClr val="930000"/>
    <a:srgbClr val="1BFF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D3EA28-F28C-4192-9A0F-B0E27F67ACB4}" v="198" dt="2020-12-01T19:16:28.255"/>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78643" autoAdjust="0"/>
  </p:normalViewPr>
  <p:slideViewPr>
    <p:cSldViewPr snapToGrid="0" snapToObjects="1">
      <p:cViewPr varScale="1">
        <p:scale>
          <a:sx n="69" d="100"/>
          <a:sy n="69" d="100"/>
        </p:scale>
        <p:origin x="969" y="45"/>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51" d="100"/>
          <a:sy n="51" d="100"/>
        </p:scale>
        <p:origin x="2692" y="2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A7F200D-FE2A-44E5-8068-832A8600BFC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DD18CC95-E523-426E-B232-B67BC3A21E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AFC2953-E7A9-4A1D-B30F-E009502DB207}" type="datetimeFigureOut">
              <a:rPr lang="en-GB" smtClean="0"/>
              <a:t>04/02/2026</a:t>
            </a:fld>
            <a:endParaRPr lang="en-GB"/>
          </a:p>
        </p:txBody>
      </p:sp>
      <p:sp>
        <p:nvSpPr>
          <p:cNvPr id="4" name="Footer Placeholder 3">
            <a:extLst>
              <a:ext uri="{FF2B5EF4-FFF2-40B4-BE49-F238E27FC236}">
                <a16:creationId xmlns:a16="http://schemas.microsoft.com/office/drawing/2014/main" id="{E546B73F-8AB1-4B90-83C4-688428B5730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7AA0E1C6-534E-4268-B709-39DC04E31E7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0E42F45-6637-4D1D-AFDB-8B1F0690ACA8}" type="slidenum">
              <a:rPr lang="en-GB" smtClean="0"/>
              <a:t>‹#›</a:t>
            </a:fld>
            <a:endParaRPr lang="en-GB"/>
          </a:p>
        </p:txBody>
      </p:sp>
    </p:spTree>
    <p:extLst>
      <p:ext uri="{BB962C8B-B14F-4D97-AF65-F5344CB8AC3E}">
        <p14:creationId xmlns:p14="http://schemas.microsoft.com/office/powerpoint/2010/main" val="21820114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EF5724-1684-40A4-9842-E9A62BCF684B}" type="datetimeFigureOut">
              <a:rPr lang="zh-CN" altLang="en-US" smtClean="0"/>
              <a:t>2026/2/4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573967-220C-4D21-91B6-158BE55CA6A2}" type="slidenum">
              <a:rPr lang="zh-CN" altLang="en-US" smtClean="0"/>
              <a:t>‹#›</a:t>
            </a:fld>
            <a:endParaRPr lang="zh-CN" altLang="en-US"/>
          </a:p>
        </p:txBody>
      </p:sp>
    </p:spTree>
    <p:extLst>
      <p:ext uri="{BB962C8B-B14F-4D97-AF65-F5344CB8AC3E}">
        <p14:creationId xmlns:p14="http://schemas.microsoft.com/office/powerpoint/2010/main" val="3361540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英文汇报稿 </a:t>
            </a:r>
            <a:r>
              <a:rPr lang="en-US" altLang="zh-CN" b="1" dirty="0"/>
              <a:t>(Oral Presentation Script)</a:t>
            </a:r>
          </a:p>
          <a:p>
            <a:r>
              <a:rPr lang="en-US" altLang="zh-CN" dirty="0"/>
              <a:t>"First, let’s look at the background of our project. As shown in the image on the right, plant growth is heavily impacted by both </a:t>
            </a:r>
            <a:r>
              <a:rPr lang="en-US" altLang="zh-CN" b="1" dirty="0"/>
              <a:t>biotic and abiotic stressors</a:t>
            </a:r>
            <a:r>
              <a:rPr lang="en-US" altLang="zh-CN" dirty="0"/>
              <a:t>.</a:t>
            </a:r>
          </a:p>
          <a:p>
            <a:r>
              <a:rPr lang="en-US" altLang="zh-CN" dirty="0"/>
              <a:t>On the </a:t>
            </a:r>
            <a:r>
              <a:rPr lang="en-US" altLang="zh-CN" b="1" dirty="0"/>
              <a:t>biotic</a:t>
            </a:r>
            <a:r>
              <a:rPr lang="en-US" altLang="zh-CN" dirty="0"/>
              <a:t> side, we have factors like pests, weeds, and various viral or bacterial infections. On the other hand, </a:t>
            </a:r>
            <a:r>
              <a:rPr lang="en-US" altLang="zh-CN" b="1" dirty="0"/>
              <a:t>abiotic</a:t>
            </a:r>
            <a:r>
              <a:rPr lang="en-US" altLang="zh-CN" dirty="0"/>
              <a:t> factors include nutrient deficiencies—such as a lack of nitrogen, iron, or potassium—as well as issues with water and sunlight. </a:t>
            </a:r>
            <a:r>
              <a:rPr lang="en-US" altLang="zh-CN" b="1" dirty="0"/>
              <a:t>On average, we lose 20% to 40% of our crop yields every single year just because of these stressors.</a:t>
            </a:r>
            <a:endParaRPr lang="en-US" altLang="zh-CN" dirty="0"/>
          </a:p>
          <a:p>
            <a:r>
              <a:rPr lang="en-US" altLang="zh-CN" dirty="0"/>
              <a:t>To provide the right treatment, we must accurately identify which stressor the crop is facing. Traditionally, this relies on manual inspection, which is neither efficient nor accurate for large-scale farming. That’s why we’ve developed an </a:t>
            </a:r>
            <a:r>
              <a:rPr lang="en-US" altLang="zh-CN" b="1" dirty="0"/>
              <a:t>AI-driven approach</a:t>
            </a:r>
            <a:r>
              <a:rPr lang="en-US" altLang="zh-CN" dirty="0"/>
              <a:t> to replace manual observation, using crop images to automatically identify specific stressors."</a:t>
            </a:r>
          </a:p>
        </p:txBody>
      </p:sp>
      <p:sp>
        <p:nvSpPr>
          <p:cNvPr id="4" name="灯片编号占位符 3"/>
          <p:cNvSpPr>
            <a:spLocks noGrp="1"/>
          </p:cNvSpPr>
          <p:nvPr>
            <p:ph type="sldNum" sz="quarter" idx="5"/>
          </p:nvPr>
        </p:nvSpPr>
        <p:spPr/>
        <p:txBody>
          <a:bodyPr/>
          <a:lstStyle/>
          <a:p>
            <a:fld id="{0C573967-220C-4D21-91B6-158BE55CA6A2}" type="slidenum">
              <a:rPr lang="zh-CN" altLang="en-US" smtClean="0"/>
              <a:t>3</a:t>
            </a:fld>
            <a:endParaRPr lang="zh-CN" altLang="en-US"/>
          </a:p>
        </p:txBody>
      </p:sp>
    </p:spTree>
    <p:extLst>
      <p:ext uri="{BB962C8B-B14F-4D97-AF65-F5344CB8AC3E}">
        <p14:creationId xmlns:p14="http://schemas.microsoft.com/office/powerpoint/2010/main" val="10788566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Our project simplifies this complex reality into a </a:t>
            </a:r>
            <a:r>
              <a:rPr lang="en-US" altLang="zh-CN" b="1" dirty="0"/>
              <a:t>Binary Classification task</a:t>
            </a:r>
            <a:r>
              <a:rPr lang="en-US" altLang="zh-CN" dirty="0"/>
              <a:t>: Is it Biotic or Abiotic? This clear distinction is the first and most important step for any targeted intervention.</a:t>
            </a:r>
            <a:endParaRPr lang="zh-CN" altLang="en-US" dirty="0"/>
          </a:p>
        </p:txBody>
      </p:sp>
      <p:sp>
        <p:nvSpPr>
          <p:cNvPr id="4" name="灯片编号占位符 3"/>
          <p:cNvSpPr>
            <a:spLocks noGrp="1"/>
          </p:cNvSpPr>
          <p:nvPr>
            <p:ph type="sldNum" sz="quarter" idx="5"/>
          </p:nvPr>
        </p:nvSpPr>
        <p:spPr/>
        <p:txBody>
          <a:bodyPr/>
          <a:lstStyle/>
          <a:p>
            <a:fld id="{0C573967-220C-4D21-91B6-158BE55CA6A2}" type="slidenum">
              <a:rPr lang="zh-CN" altLang="en-US" smtClean="0"/>
              <a:t>4</a:t>
            </a:fld>
            <a:endParaRPr lang="zh-CN" altLang="en-US"/>
          </a:p>
        </p:txBody>
      </p:sp>
    </p:spTree>
    <p:extLst>
      <p:ext uri="{BB962C8B-B14F-4D97-AF65-F5344CB8AC3E}">
        <p14:creationId xmlns:p14="http://schemas.microsoft.com/office/powerpoint/2010/main" val="501567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chose MobileNetV2 because it’s incredibly efficient. In a real-world farm, we don't have giant servers; we need a model that can run on a smartphone or a drone. By using </a:t>
            </a:r>
            <a:r>
              <a:rPr lang="en-US" altLang="zh-CN" b="1" dirty="0"/>
              <a:t>Transfer Learning</a:t>
            </a:r>
            <a:r>
              <a:rPr lang="en-US" altLang="zh-CN" dirty="0"/>
              <a:t>, we adapted this powerful model to recognize specific plant stress patterns with much less data.</a:t>
            </a:r>
          </a:p>
          <a:p>
            <a:endParaRPr lang="en-US" altLang="zh-CN" dirty="0"/>
          </a:p>
          <a:p>
            <a:r>
              <a:rPr lang="en-US" altLang="zh-CN" dirty="0"/>
              <a:t>We didn't train from scratch. Instead, we utilized </a:t>
            </a:r>
            <a:r>
              <a:rPr lang="en-US" altLang="zh-CN" b="1" dirty="0"/>
              <a:t>Transfer Learning</a:t>
            </a:r>
            <a:r>
              <a:rPr lang="en-US" altLang="zh-CN" dirty="0"/>
              <a:t> by leveraging pre-trained ImageNet weights. This allows our model to start with a sophisticated understanding of visual shapes and textures, which is essential when dealing with specific plant stress datasets.</a:t>
            </a:r>
          </a:p>
          <a:p>
            <a:endParaRPr lang="en-US" altLang="zh-CN" dirty="0"/>
          </a:p>
          <a:p>
            <a:r>
              <a:rPr lang="en-US" altLang="zh-CN" dirty="0"/>
              <a:t>The entire system is implemented in </a:t>
            </a:r>
            <a:r>
              <a:rPr lang="en-US" altLang="zh-CN" b="1" dirty="0"/>
              <a:t>Python</a:t>
            </a:r>
            <a:r>
              <a:rPr lang="en-US" altLang="zh-CN" dirty="0"/>
              <a:t> using the </a:t>
            </a:r>
            <a:r>
              <a:rPr lang="en-US" altLang="zh-CN" b="1" dirty="0" err="1"/>
              <a:t>PyTorch</a:t>
            </a:r>
            <a:r>
              <a:rPr lang="en-US" altLang="zh-CN" dirty="0"/>
              <a:t> framework, ensuring a flexible and scalable pipeline for our image processing and voting logic.</a:t>
            </a:r>
            <a:endParaRPr lang="zh-CN" altLang="en-US" dirty="0"/>
          </a:p>
        </p:txBody>
      </p:sp>
      <p:sp>
        <p:nvSpPr>
          <p:cNvPr id="4" name="灯片编号占位符 3"/>
          <p:cNvSpPr>
            <a:spLocks noGrp="1"/>
          </p:cNvSpPr>
          <p:nvPr>
            <p:ph type="sldNum" sz="quarter" idx="5"/>
          </p:nvPr>
        </p:nvSpPr>
        <p:spPr/>
        <p:txBody>
          <a:bodyPr/>
          <a:lstStyle/>
          <a:p>
            <a:fld id="{0C573967-220C-4D21-91B6-158BE55CA6A2}" type="slidenum">
              <a:rPr lang="zh-CN" altLang="en-US" smtClean="0"/>
              <a:t>5</a:t>
            </a:fld>
            <a:endParaRPr lang="zh-CN" altLang="en-US"/>
          </a:p>
        </p:txBody>
      </p:sp>
    </p:spTree>
    <p:extLst>
      <p:ext uri="{BB962C8B-B14F-4D97-AF65-F5344CB8AC3E}">
        <p14:creationId xmlns:p14="http://schemas.microsoft.com/office/powerpoint/2010/main" val="39901388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To understand how we classify stress, we look at the DCNN architecture. We use </a:t>
            </a:r>
            <a:r>
              <a:rPr lang="en-US" altLang="zh-CN" sz="1200" b="1" kern="1200" dirty="0">
                <a:solidFill>
                  <a:schemeClr val="tx1"/>
                </a:solidFill>
                <a:effectLst/>
                <a:latin typeface="+mn-lt"/>
                <a:ea typeface="+mn-ea"/>
                <a:cs typeface="+mn-cs"/>
              </a:rPr>
              <a:t>MobileNetV2</a:t>
            </a:r>
            <a:r>
              <a:rPr lang="en-US" altLang="zh-CN" dirty="0"/>
              <a:t> as a mathematical function </a:t>
            </a:r>
            <a:r>
              <a:rPr lang="en-US" altLang="zh-CN" sz="1200" kern="1200" dirty="0">
                <a:solidFill>
                  <a:schemeClr val="tx1"/>
                </a:solidFill>
                <a:effectLst/>
                <a:latin typeface="+mn-lt"/>
                <a:ea typeface="+mn-ea"/>
                <a:cs typeface="+mn-cs"/>
              </a:rPr>
              <a:t>$f(x)$</a:t>
            </a:r>
            <a:r>
              <a:rPr lang="en-US" altLang="zh-CN" dirty="0"/>
              <a:t> that transforms pixels into abstract features. It looks for patterns like the rough texture of a fungus or the yellowing of a nutrient deficiency.</a:t>
            </a:r>
          </a:p>
          <a:p>
            <a:endParaRPr lang="en-US" altLang="zh-CN" dirty="0"/>
          </a:p>
          <a:p>
            <a:r>
              <a:rPr lang="en-US" altLang="zh-CN" dirty="0"/>
              <a:t>As shown in the </a:t>
            </a:r>
            <a:r>
              <a:rPr lang="en-US" altLang="zh-CN" sz="1200" b="1" kern="1200" dirty="0" err="1">
                <a:solidFill>
                  <a:schemeClr val="tx1"/>
                </a:solidFill>
                <a:effectLst/>
                <a:latin typeface="+mn-lt"/>
                <a:ea typeface="+mn-ea"/>
                <a:cs typeface="+mn-cs"/>
              </a:rPr>
              <a:t>Softmax</a:t>
            </a:r>
            <a:r>
              <a:rPr lang="en-US" altLang="zh-CN" sz="1200" b="1" kern="1200" dirty="0">
                <a:solidFill>
                  <a:schemeClr val="tx1"/>
                </a:solidFill>
                <a:effectLst/>
                <a:latin typeface="+mn-lt"/>
                <a:ea typeface="+mn-ea"/>
                <a:cs typeface="+mn-cs"/>
              </a:rPr>
              <a:t> equation</a:t>
            </a:r>
            <a:r>
              <a:rPr lang="en-US" altLang="zh-CN" dirty="0"/>
              <a:t> from our literature, the network doesn't just say 'Yes' or 'No'. It calculates a probability, </a:t>
            </a:r>
            <a:r>
              <a:rPr lang="en-US" altLang="zh-CN" sz="1200" kern="1200" dirty="0">
                <a:solidFill>
                  <a:schemeClr val="tx1"/>
                </a:solidFill>
                <a:effectLst/>
                <a:latin typeface="+mn-lt"/>
                <a:ea typeface="+mn-ea"/>
                <a:cs typeface="+mn-cs"/>
              </a:rPr>
              <a:t>$P(</a:t>
            </a:r>
            <a:r>
              <a:rPr lang="en-US" altLang="zh-CN" sz="1200" kern="1200" dirty="0" err="1">
                <a:solidFill>
                  <a:schemeClr val="tx1"/>
                </a:solidFill>
                <a:effectLst/>
                <a:latin typeface="+mn-lt"/>
                <a:ea typeface="+mn-ea"/>
                <a:cs typeface="+mn-cs"/>
              </a:rPr>
              <a:t>y|x</a:t>
            </a:r>
            <a:r>
              <a:rPr lang="en-US" altLang="zh-CN" sz="1200" kern="1200" dirty="0">
                <a:solidFill>
                  <a:schemeClr val="tx1"/>
                </a:solidFill>
                <a:effectLst/>
                <a:latin typeface="+mn-lt"/>
                <a:ea typeface="+mn-ea"/>
                <a:cs typeface="+mn-cs"/>
              </a:rPr>
              <a:t>)$</a:t>
            </a:r>
            <a:r>
              <a:rPr lang="en-US" altLang="zh-CN" dirty="0"/>
              <a:t>, for each class. (</a:t>
            </a:r>
            <a:r>
              <a:rPr lang="zh-CN" altLang="en-US" dirty="0"/>
              <a:t>指向公式</a:t>
            </a:r>
            <a:r>
              <a:rPr lang="en-US" altLang="zh-CN" dirty="0"/>
              <a:t>) This value represents the model's 'confidence’.</a:t>
            </a:r>
          </a:p>
          <a:p>
            <a:endParaRPr lang="en-US" altLang="zh-CN" dirty="0"/>
          </a:p>
          <a:p>
            <a:r>
              <a:rPr lang="en-US" altLang="zh-CN" dirty="0"/>
              <a:t>This is the core of our </a:t>
            </a:r>
            <a:r>
              <a:rPr lang="en-US" altLang="zh-CN" b="1" dirty="0"/>
              <a:t>Soft Voting</a:t>
            </a:r>
            <a:r>
              <a:rPr lang="en-US" altLang="zh-CN" dirty="0"/>
              <a:t> logic. Instead of taking one final guess, our framework collects these probability scores from </a:t>
            </a:r>
            <a:r>
              <a:rPr lang="en-US" altLang="zh-CN" b="1" dirty="0"/>
              <a:t>all tiles</a:t>
            </a:r>
            <a:r>
              <a:rPr lang="en-US" altLang="zh-CN" dirty="0"/>
              <a:t>. By averaging these mathematical confidences, we get a much more stable and accurate diagnosis than any single-image model.</a:t>
            </a:r>
            <a:endParaRPr lang="zh-CN" altLang="en-US" dirty="0"/>
          </a:p>
        </p:txBody>
      </p:sp>
      <p:sp>
        <p:nvSpPr>
          <p:cNvPr id="4" name="灯片编号占位符 3"/>
          <p:cNvSpPr>
            <a:spLocks noGrp="1"/>
          </p:cNvSpPr>
          <p:nvPr>
            <p:ph type="sldNum" sz="quarter" idx="5"/>
          </p:nvPr>
        </p:nvSpPr>
        <p:spPr/>
        <p:txBody>
          <a:bodyPr/>
          <a:lstStyle/>
          <a:p>
            <a:fld id="{0C573967-220C-4D21-91B6-158BE55CA6A2}" type="slidenum">
              <a:rPr lang="zh-CN" altLang="en-US" smtClean="0"/>
              <a:t>6</a:t>
            </a:fld>
            <a:endParaRPr lang="zh-CN" altLang="en-US"/>
          </a:p>
        </p:txBody>
      </p:sp>
    </p:spTree>
    <p:extLst>
      <p:ext uri="{BB962C8B-B14F-4D97-AF65-F5344CB8AC3E}">
        <p14:creationId xmlns:p14="http://schemas.microsoft.com/office/powerpoint/2010/main" val="40501560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most critical part of our preprocessing is the </a:t>
            </a:r>
            <a:r>
              <a:rPr lang="en-US" altLang="zh-CN" b="1" dirty="0"/>
              <a:t>Adaptive Tiling</a:t>
            </a:r>
            <a:r>
              <a:rPr lang="en-US" altLang="zh-CN" dirty="0"/>
              <a:t>. First, we resize the </a:t>
            </a:r>
            <a:r>
              <a:rPr lang="en-US" altLang="zh-CN" b="1" dirty="0"/>
              <a:t>short edge to 336 pixels</a:t>
            </a:r>
            <a:r>
              <a:rPr lang="en-US" altLang="zh-CN" dirty="0"/>
              <a:t> while letting the long edge scale proportionally. This keeps the leaf's natural shape intact.</a:t>
            </a:r>
          </a:p>
          <a:p>
            <a:r>
              <a:rPr lang="en-US" altLang="zh-CN" dirty="0"/>
              <a:t>Then, we use a </a:t>
            </a:r>
            <a:r>
              <a:rPr lang="en-US" altLang="zh-CN" sz="1200" kern="1200" dirty="0">
                <a:solidFill>
                  <a:schemeClr val="tx1"/>
                </a:solidFill>
                <a:effectLst/>
                <a:latin typeface="+mn-lt"/>
                <a:ea typeface="+mn-ea"/>
                <a:cs typeface="+mn-cs"/>
              </a:rPr>
              <a:t>224 x 224</a:t>
            </a:r>
            <a:r>
              <a:rPr lang="en-US" altLang="zh-CN" dirty="0"/>
              <a:t> sliding window with a </a:t>
            </a:r>
            <a:r>
              <a:rPr lang="en-US" altLang="zh-CN" sz="1200" b="1" kern="1200" dirty="0">
                <a:solidFill>
                  <a:schemeClr val="tx1"/>
                </a:solidFill>
                <a:effectLst/>
                <a:latin typeface="+mn-lt"/>
                <a:ea typeface="+mn-ea"/>
                <a:cs typeface="+mn-cs"/>
              </a:rPr>
              <a:t>50% overlap</a:t>
            </a:r>
            <a:r>
              <a:rPr lang="en-US" altLang="zh-CN" dirty="0"/>
              <a:t> to crop the image. By doing this, we ensure that even the smallest fungal spots are preserved at their original detail, which is the key to our high classification accuracy.</a:t>
            </a:r>
            <a:endParaRPr lang="zh-CN" altLang="en-US" dirty="0"/>
          </a:p>
        </p:txBody>
      </p:sp>
      <p:sp>
        <p:nvSpPr>
          <p:cNvPr id="4" name="灯片编号占位符 3"/>
          <p:cNvSpPr>
            <a:spLocks noGrp="1"/>
          </p:cNvSpPr>
          <p:nvPr>
            <p:ph type="sldNum" sz="quarter" idx="5"/>
          </p:nvPr>
        </p:nvSpPr>
        <p:spPr/>
        <p:txBody>
          <a:bodyPr/>
          <a:lstStyle/>
          <a:p>
            <a:fld id="{0C573967-220C-4D21-91B6-158BE55CA6A2}" type="slidenum">
              <a:rPr lang="zh-CN" altLang="en-US" smtClean="0"/>
              <a:t>7</a:t>
            </a:fld>
            <a:endParaRPr lang="zh-CN" altLang="en-US"/>
          </a:p>
        </p:txBody>
      </p:sp>
    </p:spTree>
    <p:extLst>
      <p:ext uri="{BB962C8B-B14F-4D97-AF65-F5344CB8AC3E}">
        <p14:creationId xmlns:p14="http://schemas.microsoft.com/office/powerpoint/2010/main" val="31083515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is the heart of our system. Each </a:t>
            </a:r>
            <a:r>
              <a:rPr lang="en-US" altLang="zh-CN" sz="1200" kern="1200" dirty="0">
                <a:solidFill>
                  <a:schemeClr val="tx1"/>
                </a:solidFill>
                <a:effectLst/>
                <a:latin typeface="+mn-lt"/>
                <a:ea typeface="+mn-ea"/>
                <a:cs typeface="+mn-cs"/>
              </a:rPr>
              <a:t>224 x 224</a:t>
            </a:r>
            <a:r>
              <a:rPr lang="en-US" altLang="zh-CN" dirty="0"/>
              <a:t> tile we cropped earlier enters this pipeline here.</a:t>
            </a:r>
          </a:p>
          <a:p>
            <a:endParaRPr lang="en-US" altLang="zh-CN" dirty="0"/>
          </a:p>
          <a:p>
            <a:r>
              <a:rPr lang="en-US" altLang="zh-CN" dirty="0"/>
              <a:t>The data passes through these </a:t>
            </a:r>
            <a:r>
              <a:rPr lang="en-US" altLang="zh-CN" b="1" dirty="0"/>
              <a:t>Inverted Residual blocks</a:t>
            </a:r>
            <a:r>
              <a:rPr lang="en-US" altLang="zh-CN" dirty="0"/>
              <a:t>. Notice how the spatial size shrinks while the depth increases to 512. This is where the model 'sees' the microscopic patterns of disease.</a:t>
            </a:r>
          </a:p>
          <a:p>
            <a:endParaRPr lang="en-US" altLang="zh-CN" dirty="0"/>
          </a:p>
          <a:p>
            <a:r>
              <a:rPr lang="en-US" altLang="zh-CN" dirty="0"/>
              <a:t>Finally, after the Average Pooling and Fully Connected layers, the model reaches the </a:t>
            </a:r>
            <a:r>
              <a:rPr lang="en-US" altLang="zh-CN" sz="1200" b="1" kern="1200" dirty="0">
                <a:solidFill>
                  <a:schemeClr val="tx1"/>
                </a:solidFill>
                <a:effectLst/>
                <a:latin typeface="+mn-lt"/>
                <a:ea typeface="+mn-ea"/>
                <a:cs typeface="+mn-cs"/>
              </a:rPr>
              <a:t>Classifier</a:t>
            </a:r>
            <a:r>
              <a:rPr lang="en-US" altLang="zh-CN" dirty="0"/>
              <a:t>. (</a:t>
            </a:r>
            <a:r>
              <a:rPr lang="zh-CN" altLang="en-US" dirty="0"/>
              <a:t>指向 </a:t>
            </a:r>
            <a:r>
              <a:rPr lang="en-US" altLang="zh-CN" dirty="0"/>
              <a:t>Classifier) It outputs two numbers: the probability of being </a:t>
            </a:r>
            <a:r>
              <a:rPr lang="en-US" altLang="zh-CN" sz="1200" b="1" kern="1200" dirty="0">
                <a:solidFill>
                  <a:schemeClr val="tx1"/>
                </a:solidFill>
                <a:effectLst/>
                <a:latin typeface="+mn-lt"/>
                <a:ea typeface="+mn-ea"/>
                <a:cs typeface="+mn-cs"/>
              </a:rPr>
              <a:t>Biotic</a:t>
            </a:r>
            <a:r>
              <a:rPr lang="en-US" altLang="zh-CN" dirty="0"/>
              <a:t> or </a:t>
            </a:r>
            <a:r>
              <a:rPr lang="en-US" altLang="zh-CN" sz="1200" b="1" kern="1200" dirty="0">
                <a:solidFill>
                  <a:schemeClr val="tx1"/>
                </a:solidFill>
                <a:effectLst/>
                <a:latin typeface="+mn-lt"/>
                <a:ea typeface="+mn-ea"/>
                <a:cs typeface="+mn-cs"/>
              </a:rPr>
              <a:t>Abiotic</a:t>
            </a:r>
            <a:r>
              <a:rPr lang="en-US" altLang="zh-CN" dirty="0"/>
              <a:t>. This </a:t>
            </a:r>
            <a:r>
              <a:rPr lang="en-US" altLang="zh-CN" sz="1200" kern="1200" dirty="0">
                <a:solidFill>
                  <a:schemeClr val="tx1"/>
                </a:solidFill>
                <a:effectLst/>
                <a:latin typeface="+mn-lt"/>
                <a:ea typeface="+mn-ea"/>
                <a:cs typeface="+mn-cs"/>
              </a:rPr>
              <a:t>2 x1</a:t>
            </a:r>
            <a:r>
              <a:rPr lang="en-US" altLang="zh-CN" dirty="0"/>
              <a:t> vector is exactly what we use for our final </a:t>
            </a:r>
            <a:r>
              <a:rPr lang="en-US" altLang="zh-CN" sz="1200" b="1" kern="1200" dirty="0">
                <a:solidFill>
                  <a:schemeClr val="tx1"/>
                </a:solidFill>
                <a:effectLst/>
                <a:latin typeface="+mn-lt"/>
                <a:ea typeface="+mn-ea"/>
                <a:cs typeface="+mn-cs"/>
              </a:rPr>
              <a:t>Soft Voting</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0C573967-220C-4D21-91B6-158BE55CA6A2}" type="slidenum">
              <a:rPr lang="zh-CN" altLang="en-US" smtClean="0"/>
              <a:t>8</a:t>
            </a:fld>
            <a:endParaRPr lang="zh-CN" altLang="en-US"/>
          </a:p>
        </p:txBody>
      </p:sp>
    </p:spTree>
    <p:extLst>
      <p:ext uri="{BB962C8B-B14F-4D97-AF65-F5344CB8AC3E}">
        <p14:creationId xmlns:p14="http://schemas.microsoft.com/office/powerpoint/2010/main" val="19007055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For example, if one tile is blurry and only gives a 60% confidence score, but another tile clearly sees a fungal spot and gives a 90% score, our </a:t>
            </a:r>
            <a:r>
              <a:rPr lang="en-US" altLang="zh-CN" sz="1200" b="1" kern="1200" dirty="0">
                <a:solidFill>
                  <a:schemeClr val="tx1"/>
                </a:solidFill>
                <a:effectLst/>
                <a:latin typeface="+mn-lt"/>
                <a:ea typeface="+mn-ea"/>
                <a:cs typeface="+mn-cs"/>
              </a:rPr>
              <a:t>Soft Voting</a:t>
            </a:r>
            <a:r>
              <a:rPr lang="en-US" altLang="zh-CN" dirty="0"/>
              <a:t> combines them. Instead of just picking a 'Yes' or 'No' from one tile, we average these </a:t>
            </a:r>
            <a:r>
              <a:rPr lang="en-US" altLang="zh-CN" sz="1200" b="1" kern="1200" dirty="0">
                <a:solidFill>
                  <a:schemeClr val="tx1"/>
                </a:solidFill>
                <a:effectLst/>
                <a:latin typeface="+mn-lt"/>
                <a:ea typeface="+mn-ea"/>
                <a:cs typeface="+mn-cs"/>
              </a:rPr>
              <a:t>2 x 1 vectors</a:t>
            </a:r>
            <a:r>
              <a:rPr lang="en-US" altLang="zh-CN" dirty="0"/>
              <a:t> to reach a final, high-confidence diagnosis for the entire leaf.</a:t>
            </a:r>
            <a:endParaRPr lang="zh-CN" altLang="en-US" dirty="0"/>
          </a:p>
        </p:txBody>
      </p:sp>
      <p:sp>
        <p:nvSpPr>
          <p:cNvPr id="4" name="灯片编号占位符 3"/>
          <p:cNvSpPr>
            <a:spLocks noGrp="1"/>
          </p:cNvSpPr>
          <p:nvPr>
            <p:ph type="sldNum" sz="quarter" idx="5"/>
          </p:nvPr>
        </p:nvSpPr>
        <p:spPr/>
        <p:txBody>
          <a:bodyPr/>
          <a:lstStyle/>
          <a:p>
            <a:fld id="{0C573967-220C-4D21-91B6-158BE55CA6A2}" type="slidenum">
              <a:rPr lang="zh-CN" altLang="en-US" smtClean="0"/>
              <a:t>9</a:t>
            </a:fld>
            <a:endParaRPr lang="zh-CN" altLang="en-US"/>
          </a:p>
        </p:txBody>
      </p:sp>
    </p:spTree>
    <p:extLst>
      <p:ext uri="{BB962C8B-B14F-4D97-AF65-F5344CB8AC3E}">
        <p14:creationId xmlns:p14="http://schemas.microsoft.com/office/powerpoint/2010/main" val="38014493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Moving into the data engineering phase, our project utilizes a high-quality dataset sourced from </a:t>
            </a:r>
            <a:r>
              <a:rPr lang="en-US" altLang="zh-CN" b="1" dirty="0"/>
              <a:t>Mendeley Data</a:t>
            </a:r>
            <a:endParaRPr lang="zh-CN" altLang="en-US" dirty="0"/>
          </a:p>
        </p:txBody>
      </p:sp>
      <p:sp>
        <p:nvSpPr>
          <p:cNvPr id="4" name="灯片编号占位符 3"/>
          <p:cNvSpPr>
            <a:spLocks noGrp="1"/>
          </p:cNvSpPr>
          <p:nvPr>
            <p:ph type="sldNum" sz="quarter" idx="5"/>
          </p:nvPr>
        </p:nvSpPr>
        <p:spPr/>
        <p:txBody>
          <a:bodyPr/>
          <a:lstStyle/>
          <a:p>
            <a:fld id="{0C573967-220C-4D21-91B6-158BE55CA6A2}" type="slidenum">
              <a:rPr lang="zh-CN" altLang="en-US" smtClean="0"/>
              <a:t>10</a:t>
            </a:fld>
            <a:endParaRPr lang="zh-CN" altLang="en-US"/>
          </a:p>
        </p:txBody>
      </p:sp>
    </p:spTree>
    <p:extLst>
      <p:ext uri="{BB962C8B-B14F-4D97-AF65-F5344CB8AC3E}">
        <p14:creationId xmlns:p14="http://schemas.microsoft.com/office/powerpoint/2010/main" val="20546110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didn't just use clean lab photos; our framework processes both solid-background images and real-world field shots.</a:t>
            </a:r>
            <a:endParaRPr lang="zh-CN" altLang="en-US" dirty="0"/>
          </a:p>
        </p:txBody>
      </p:sp>
      <p:sp>
        <p:nvSpPr>
          <p:cNvPr id="4" name="灯片编号占位符 3"/>
          <p:cNvSpPr>
            <a:spLocks noGrp="1"/>
          </p:cNvSpPr>
          <p:nvPr>
            <p:ph type="sldNum" sz="quarter" idx="5"/>
          </p:nvPr>
        </p:nvSpPr>
        <p:spPr/>
        <p:txBody>
          <a:bodyPr/>
          <a:lstStyle/>
          <a:p>
            <a:fld id="{0C573967-220C-4D21-91B6-158BE55CA6A2}" type="slidenum">
              <a:rPr lang="zh-CN" altLang="en-US" smtClean="0"/>
              <a:t>11</a:t>
            </a:fld>
            <a:endParaRPr lang="zh-CN" altLang="en-US"/>
          </a:p>
        </p:txBody>
      </p:sp>
    </p:spTree>
    <p:extLst>
      <p:ext uri="{BB962C8B-B14F-4D97-AF65-F5344CB8AC3E}">
        <p14:creationId xmlns:p14="http://schemas.microsoft.com/office/powerpoint/2010/main" val="6014606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While the raw dataset contains over 20 labels, we consolidated them into two mission-critical categories. </a:t>
            </a:r>
            <a:r>
              <a:rPr lang="en-US" altLang="zh-CN" b="1" dirty="0"/>
              <a:t>Biotic Stress</a:t>
            </a:r>
            <a:r>
              <a:rPr lang="en-US" altLang="zh-CN" dirty="0"/>
              <a:t> focuses on organic pathogens like fungi and bacteria. </a:t>
            </a:r>
            <a:r>
              <a:rPr lang="en-US" altLang="zh-CN" b="1" dirty="0"/>
              <a:t>Abiotic Stress</a:t>
            </a:r>
            <a:r>
              <a:rPr lang="en-US" altLang="zh-CN" dirty="0"/>
              <a:t> covers physiological issues like nutrient deficiencies.</a:t>
            </a:r>
          </a:p>
          <a:p>
            <a:endParaRPr lang="en-US" altLang="zh-CN" dirty="0"/>
          </a:p>
          <a:p>
            <a:r>
              <a:rPr lang="en-US" altLang="zh-CN" dirty="0"/>
              <a:t>To ensure scientific rigor, we implemented a </a:t>
            </a:r>
            <a:r>
              <a:rPr lang="en-US" altLang="zh-CN" b="1" dirty="0"/>
              <a:t>Sequential Splitting strategy</a:t>
            </a:r>
            <a:r>
              <a:rPr lang="en-US" altLang="zh-CN" dirty="0"/>
              <a:t>. This ensures that if a leaf was photographed multiple times, those 'twins' stay together in either training or testing, preventing the model from 'cheating' by memorizing specific leaves."</a:t>
            </a:r>
            <a:endParaRPr lang="zh-CN" altLang="en-US" dirty="0"/>
          </a:p>
        </p:txBody>
      </p:sp>
      <p:sp>
        <p:nvSpPr>
          <p:cNvPr id="4" name="灯片编号占位符 3"/>
          <p:cNvSpPr>
            <a:spLocks noGrp="1"/>
          </p:cNvSpPr>
          <p:nvPr>
            <p:ph type="sldNum" sz="quarter" idx="5"/>
          </p:nvPr>
        </p:nvSpPr>
        <p:spPr/>
        <p:txBody>
          <a:bodyPr/>
          <a:lstStyle/>
          <a:p>
            <a:fld id="{0C573967-220C-4D21-91B6-158BE55CA6A2}" type="slidenum">
              <a:rPr lang="zh-CN" altLang="en-US" smtClean="0"/>
              <a:t>12</a:t>
            </a:fld>
            <a:endParaRPr lang="zh-CN" altLang="en-US"/>
          </a:p>
        </p:txBody>
      </p:sp>
    </p:spTree>
    <p:extLst>
      <p:ext uri="{BB962C8B-B14F-4D97-AF65-F5344CB8AC3E}">
        <p14:creationId xmlns:p14="http://schemas.microsoft.com/office/powerpoint/2010/main" val="42660947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the first stage of our experiment, we conducted a baseline test on a single crop. We didn't just stop at Binary classification; we extended it to a </a:t>
            </a:r>
            <a:r>
              <a:rPr lang="en-US" altLang="zh-CN" b="1" dirty="0"/>
              <a:t>6-Class fine-grained analysis</a:t>
            </a:r>
            <a:r>
              <a:rPr lang="en-US" altLang="zh-CN" dirty="0"/>
              <a:t>. This allowed us to see if the model could distinguish between very similar-looking symptoms, such as different types of fungal spots. The results proved that our MobileNetV2 backbone is highly capable of capturing these subtle textural nuances.</a:t>
            </a:r>
            <a:endParaRPr lang="zh-CN" altLang="en-US" dirty="0"/>
          </a:p>
        </p:txBody>
      </p:sp>
      <p:sp>
        <p:nvSpPr>
          <p:cNvPr id="4" name="灯片编号占位符 3"/>
          <p:cNvSpPr>
            <a:spLocks noGrp="1"/>
          </p:cNvSpPr>
          <p:nvPr>
            <p:ph type="sldNum" sz="quarter" idx="5"/>
          </p:nvPr>
        </p:nvSpPr>
        <p:spPr/>
        <p:txBody>
          <a:bodyPr/>
          <a:lstStyle/>
          <a:p>
            <a:fld id="{0C573967-220C-4D21-91B6-158BE55CA6A2}" type="slidenum">
              <a:rPr lang="zh-CN" altLang="en-US" smtClean="0"/>
              <a:t>13</a:t>
            </a:fld>
            <a:endParaRPr lang="zh-CN" altLang="en-US"/>
          </a:p>
        </p:txBody>
      </p:sp>
    </p:spTree>
    <p:extLst>
      <p:ext uri="{BB962C8B-B14F-4D97-AF65-F5344CB8AC3E}">
        <p14:creationId xmlns:p14="http://schemas.microsoft.com/office/powerpoint/2010/main" val="41939678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After the successful single-crop test, we moved to the core of our research: </a:t>
            </a:r>
            <a:r>
              <a:rPr lang="en-US" altLang="zh-CN" b="1" dirty="0"/>
              <a:t>Multi-Crop Training</a:t>
            </a:r>
            <a:r>
              <a:rPr lang="en-US" altLang="zh-CN" dirty="0"/>
              <a:t>. We fed data from all 8 species into the model at once. This is much harder because a fungal spot on a Guava leaf looks different from a spot on a Corn leaf. </a:t>
            </a:r>
          </a:p>
          <a:p>
            <a:endParaRPr lang="en-US" altLang="zh-CN" dirty="0"/>
          </a:p>
          <a:p>
            <a:r>
              <a:rPr lang="en-US" altLang="zh-CN" dirty="0"/>
              <a:t>Looking at our training dynamics, the model shows excellent convergence. If we analyze the </a:t>
            </a:r>
            <a:r>
              <a:rPr lang="en-US" altLang="zh-CN" b="1" dirty="0"/>
              <a:t>Loss Curve</a:t>
            </a:r>
            <a:r>
              <a:rPr lang="en-US" altLang="zh-CN" dirty="0"/>
              <a:t> (pointing to the left plot), we see a rapid drop in the first few epochs. After </a:t>
            </a:r>
            <a:r>
              <a:rPr lang="en-US" altLang="zh-CN" b="1" dirty="0"/>
              <a:t>Epoch 9</a:t>
            </a:r>
            <a:r>
              <a:rPr lang="en-US" altLang="zh-CN" dirty="0"/>
              <a:t>, the test loss plateaus and begins to fluctuate slightly.</a:t>
            </a:r>
          </a:p>
          <a:p>
            <a:r>
              <a:rPr lang="en-US" altLang="zh-CN" dirty="0"/>
              <a:t>Simultaneously, the </a:t>
            </a:r>
            <a:r>
              <a:rPr lang="en-US" altLang="zh-CN" b="1" dirty="0"/>
              <a:t>Accuracy Curve</a:t>
            </a:r>
            <a:r>
              <a:rPr lang="en-US" altLang="zh-CN" dirty="0"/>
              <a:t>  shows a steady upward trend for both training and testing sets. As we can see from the final results, our </a:t>
            </a:r>
            <a:r>
              <a:rPr lang="en-US" altLang="zh-CN" b="1" dirty="0"/>
              <a:t>Training Accuracy reached 0.96</a:t>
            </a:r>
            <a:r>
              <a:rPr lang="en-US" altLang="zh-CN" dirty="0"/>
              <a:t>. Crucially, the </a:t>
            </a:r>
            <a:r>
              <a:rPr lang="en-US" altLang="zh-CN" b="1" dirty="0"/>
              <a:t>Testing Accuracy</a:t>
            </a:r>
            <a:r>
              <a:rPr lang="en-US" altLang="zh-CN" dirty="0"/>
              <a:t> followed closely behind, remaining just slightly below the training curve.</a:t>
            </a:r>
          </a:p>
          <a:p>
            <a:r>
              <a:rPr lang="en-US" altLang="zh-CN" dirty="0"/>
              <a:t>After verifying the training curves, we analyzed the </a:t>
            </a:r>
            <a:r>
              <a:rPr lang="en-US" altLang="zh-CN" b="1" dirty="0"/>
              <a:t>Confusion Matrix</a:t>
            </a:r>
            <a:r>
              <a:rPr lang="en-US" altLang="zh-CN" dirty="0"/>
              <a:t> on the test set. The results show that the model is highly effective at distinguishing between Biotic and Abiotic stress.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By using </a:t>
            </a:r>
            <a:r>
              <a:rPr lang="en-US" altLang="zh-CN" b="1" dirty="0"/>
              <a:t>Epoch 9 weights</a:t>
            </a:r>
            <a:r>
              <a:rPr lang="en-US" altLang="zh-CN" dirty="0"/>
              <a:t>, our model successfully learned 'universal' features of stress that apply across different plant families.</a:t>
            </a:r>
          </a:p>
          <a:p>
            <a:endParaRPr lang="zh-CN" altLang="en-US" dirty="0"/>
          </a:p>
        </p:txBody>
      </p:sp>
      <p:sp>
        <p:nvSpPr>
          <p:cNvPr id="4" name="灯片编号占位符 3"/>
          <p:cNvSpPr>
            <a:spLocks noGrp="1"/>
          </p:cNvSpPr>
          <p:nvPr>
            <p:ph type="sldNum" sz="quarter" idx="5"/>
          </p:nvPr>
        </p:nvSpPr>
        <p:spPr/>
        <p:txBody>
          <a:bodyPr/>
          <a:lstStyle/>
          <a:p>
            <a:fld id="{0C573967-220C-4D21-91B6-158BE55CA6A2}" type="slidenum">
              <a:rPr lang="zh-CN" altLang="en-US" smtClean="0"/>
              <a:t>14</a:t>
            </a:fld>
            <a:endParaRPr lang="zh-CN" altLang="en-US"/>
          </a:p>
        </p:txBody>
      </p:sp>
    </p:spTree>
    <p:extLst>
      <p:ext uri="{BB962C8B-B14F-4D97-AF65-F5344CB8AC3E}">
        <p14:creationId xmlns:p14="http://schemas.microsoft.com/office/powerpoint/2010/main" val="18018383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To ensure our model isn't a 'black box,' we applied </a:t>
            </a:r>
            <a:r>
              <a:rPr lang="en-US" altLang="zh-CN" b="1" dirty="0"/>
              <a:t>Grad-CAM</a:t>
            </a:r>
            <a:r>
              <a:rPr lang="en-US" altLang="zh-CN" dirty="0"/>
              <a:t> to visualize the decision-making process. </a:t>
            </a:r>
            <a:r>
              <a:rPr lang="en-US" altLang="zh-CN" b="1" dirty="0"/>
              <a:t>Red/Orange areas</a:t>
            </a:r>
            <a:r>
              <a:rPr lang="en-US" altLang="zh-CN" dirty="0"/>
              <a:t> represent high-attention zones. These pixels contribute most to the model’s final classification decision.</a:t>
            </a:r>
            <a:r>
              <a:rPr lang="en-US" altLang="zh-CN" b="1" dirty="0"/>
              <a:t> Blue/Purple areas</a:t>
            </a:r>
            <a:r>
              <a:rPr lang="en-US" altLang="zh-CN" dirty="0"/>
              <a:t> represent low-attention zones, meaning these pixels are considered irrelevant to the classification task.</a:t>
            </a:r>
          </a:p>
          <a:p>
            <a:r>
              <a:rPr lang="en-US" altLang="zh-CN" dirty="0"/>
              <a:t>As we move from Layer 0 to Layer 16, you can clearly see the model's 'attention' shifting from generic edges to the specific necrotic lesions on the leaf tip. This spatial alignment between the heat map and the actual disease confirms that our </a:t>
            </a:r>
            <a:r>
              <a:rPr lang="en-US" altLang="zh-CN" b="1" dirty="0"/>
              <a:t>Epoch 12 model</a:t>
            </a:r>
            <a:r>
              <a:rPr lang="en-US" altLang="zh-CN" dirty="0"/>
              <a:t> has learned the correct biological features of plant stress.</a:t>
            </a:r>
            <a:endParaRPr lang="zh-CN" altLang="en-US" dirty="0"/>
          </a:p>
        </p:txBody>
      </p:sp>
      <p:sp>
        <p:nvSpPr>
          <p:cNvPr id="4" name="灯片编号占位符 3"/>
          <p:cNvSpPr>
            <a:spLocks noGrp="1"/>
          </p:cNvSpPr>
          <p:nvPr>
            <p:ph type="sldNum" sz="quarter" idx="5"/>
          </p:nvPr>
        </p:nvSpPr>
        <p:spPr/>
        <p:txBody>
          <a:bodyPr/>
          <a:lstStyle/>
          <a:p>
            <a:fld id="{0C573967-220C-4D21-91B6-158BE55CA6A2}" type="slidenum">
              <a:rPr lang="zh-CN" altLang="en-US" smtClean="0"/>
              <a:t>15</a:t>
            </a:fld>
            <a:endParaRPr lang="zh-CN" altLang="en-US"/>
          </a:p>
        </p:txBody>
      </p:sp>
    </p:spTree>
    <p:extLst>
      <p:ext uri="{BB962C8B-B14F-4D97-AF65-F5344CB8AC3E}">
        <p14:creationId xmlns:p14="http://schemas.microsoft.com/office/powerpoint/2010/main" val="18907945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C573967-220C-4D21-91B6-158BE55CA6A2}" type="slidenum">
              <a:rPr lang="zh-CN" altLang="en-US" smtClean="0"/>
              <a:t>16</a:t>
            </a:fld>
            <a:endParaRPr lang="zh-CN" altLang="en-US"/>
          </a:p>
        </p:txBody>
      </p:sp>
    </p:spTree>
    <p:extLst>
      <p:ext uri="{BB962C8B-B14F-4D97-AF65-F5344CB8AC3E}">
        <p14:creationId xmlns:p14="http://schemas.microsoft.com/office/powerpoint/2010/main" val="10031295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Header">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7180AC5D-E06C-4327-9B46-C76A868D5BC2}"/>
              </a:ext>
            </a:extLst>
          </p:cNvPr>
          <p:cNvSpPr txBox="1">
            <a:spLocks/>
          </p:cNvSpPr>
          <p:nvPr/>
        </p:nvSpPr>
        <p:spPr>
          <a:xfrm>
            <a:off x="1082040" y="5364480"/>
            <a:ext cx="10027920" cy="100044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3200" b="1" kern="1200" cap="small" baseline="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400" b="0" i="1" cap="none" baseline="0" dirty="0"/>
          </a:p>
        </p:txBody>
      </p:sp>
      <p:sp>
        <p:nvSpPr>
          <p:cNvPr id="4" name="Subtitle 2">
            <a:extLst>
              <a:ext uri="{FF2B5EF4-FFF2-40B4-BE49-F238E27FC236}">
                <a16:creationId xmlns:a16="http://schemas.microsoft.com/office/drawing/2014/main" id="{947E5F42-7899-4D78-8BF0-1B6FE4A4D6B8}"/>
              </a:ext>
            </a:extLst>
          </p:cNvPr>
          <p:cNvSpPr txBox="1">
            <a:spLocks/>
          </p:cNvSpPr>
          <p:nvPr/>
        </p:nvSpPr>
        <p:spPr>
          <a:xfrm>
            <a:off x="1082040" y="5364480"/>
            <a:ext cx="10027920" cy="100044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3200" b="1" kern="1200" cap="small" baseline="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400" b="0" i="1" cap="none" baseline="0" dirty="0"/>
          </a:p>
        </p:txBody>
      </p:sp>
      <p:sp>
        <p:nvSpPr>
          <p:cNvPr id="2" name="Title 1">
            <a:extLst>
              <a:ext uri="{FF2B5EF4-FFF2-40B4-BE49-F238E27FC236}">
                <a16:creationId xmlns:a16="http://schemas.microsoft.com/office/drawing/2014/main" id="{FC61E525-4202-46B4-81A4-A0E39D1B44FD}"/>
              </a:ext>
            </a:extLst>
          </p:cNvPr>
          <p:cNvSpPr>
            <a:spLocks noGrp="1"/>
          </p:cNvSpPr>
          <p:nvPr>
            <p:ph type="title"/>
          </p:nvPr>
        </p:nvSpPr>
        <p:spPr>
          <a:xfrm>
            <a:off x="923925" y="4357846"/>
            <a:ext cx="10515600" cy="1214279"/>
          </a:xfrm>
        </p:spPr>
        <p:txBody>
          <a:bodyPr/>
          <a:lstStyle>
            <a:lvl1pPr>
              <a:defRPr lang="en-GB" sz="3200" b="1" kern="1200" cap="small" baseline="0" dirty="0">
                <a:solidFill>
                  <a:schemeClr val="bg1"/>
                </a:solidFill>
                <a:latin typeface="+mn-lt"/>
                <a:ea typeface="+mn-ea"/>
                <a:cs typeface="+mn-cs"/>
              </a:defRPr>
            </a:lvl1pPr>
          </a:lstStyle>
          <a:p>
            <a:r>
              <a:rPr lang="en-US"/>
              <a:t>Click to edit Master title style</a:t>
            </a:r>
            <a:endParaRPr lang="en-GB" dirty="0"/>
          </a:p>
        </p:txBody>
      </p:sp>
      <p:sp>
        <p:nvSpPr>
          <p:cNvPr id="6" name="Text Placeholder 5">
            <a:extLst>
              <a:ext uri="{FF2B5EF4-FFF2-40B4-BE49-F238E27FC236}">
                <a16:creationId xmlns:a16="http://schemas.microsoft.com/office/drawing/2014/main" id="{EB8F3F72-F71F-4754-946D-EDD3735F0F8F}"/>
              </a:ext>
            </a:extLst>
          </p:cNvPr>
          <p:cNvSpPr>
            <a:spLocks noGrp="1"/>
          </p:cNvSpPr>
          <p:nvPr>
            <p:ph type="body" sz="quarter" idx="10" hasCustomPrompt="1"/>
          </p:nvPr>
        </p:nvSpPr>
        <p:spPr>
          <a:xfrm>
            <a:off x="923926" y="5657850"/>
            <a:ext cx="10515600" cy="838200"/>
          </a:xfrm>
          <a:prstGeom prst="rect">
            <a:avLst/>
          </a:prstGeom>
        </p:spPr>
        <p:txBody>
          <a:bodyPr anchor="ctr">
            <a:normAutofit/>
          </a:bodyPr>
          <a:lstStyle>
            <a:lvl1pPr>
              <a:buNone/>
              <a:defRPr lang="en-GB" sz="2400" b="0" i="1" kern="1200" cap="none" baseline="0" dirty="0">
                <a:solidFill>
                  <a:schemeClr val="bg1"/>
                </a:solidFill>
                <a:latin typeface="+mn-lt"/>
                <a:ea typeface="+mn-ea"/>
                <a:cs typeface="+mn-cs"/>
              </a:defRPr>
            </a:lvl1pPr>
            <a:lvl2pPr>
              <a:buNone/>
              <a:defRPr/>
            </a:lvl2pPr>
            <a:lvl5pPr>
              <a:buFont typeface="Arial" panose="020B0604020202020204" pitchFamily="34" charset="0"/>
              <a:buChar char="•"/>
              <a:defRPr lang="en-GB" sz="3200" b="0" i="1" kern="1200" cap="none" baseline="0" dirty="0">
                <a:solidFill>
                  <a:schemeClr val="bg1"/>
                </a:solidFill>
                <a:latin typeface="+mn-lt"/>
                <a:ea typeface="+mn-ea"/>
                <a:cs typeface="+mn-cs"/>
              </a:defRPr>
            </a:lvl5pPr>
          </a:lstStyle>
          <a:p>
            <a:pPr lvl="0"/>
            <a:r>
              <a:rPr lang="en-GB" dirty="0"/>
              <a:t>Click to add author</a:t>
            </a:r>
          </a:p>
        </p:txBody>
      </p:sp>
      <p:sp>
        <p:nvSpPr>
          <p:cNvPr id="8" name="Subtitle 2">
            <a:extLst>
              <a:ext uri="{FF2B5EF4-FFF2-40B4-BE49-F238E27FC236}">
                <a16:creationId xmlns:a16="http://schemas.microsoft.com/office/drawing/2014/main" id="{8ED0B116-51FD-47A4-A60B-EBB7D3FA8270}"/>
              </a:ext>
            </a:extLst>
          </p:cNvPr>
          <p:cNvSpPr txBox="1">
            <a:spLocks/>
          </p:cNvSpPr>
          <p:nvPr userDrawn="1"/>
        </p:nvSpPr>
        <p:spPr>
          <a:xfrm>
            <a:off x="1082040" y="5364480"/>
            <a:ext cx="10027920" cy="100044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3200" b="1" kern="1200" cap="small" baseline="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400" b="0" i="1" cap="none" baseline="0" dirty="0"/>
          </a:p>
        </p:txBody>
      </p:sp>
    </p:spTree>
    <p:extLst>
      <p:ext uri="{BB962C8B-B14F-4D97-AF65-F5344CB8AC3E}">
        <p14:creationId xmlns:p14="http://schemas.microsoft.com/office/powerpoint/2010/main" val="4032036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41960" y="136526"/>
            <a:ext cx="11262360" cy="880744"/>
          </a:xfrm>
        </p:spPr>
        <p:txBody>
          <a:bodyPr>
            <a:normAutofit/>
          </a:bodyPr>
          <a:lstStyle>
            <a:lvl1pPr>
              <a:defRPr sz="2800" b="1">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441960" y="1489393"/>
            <a:ext cx="11262360" cy="4351338"/>
          </a:xfrm>
          <a:prstGeom prst="rect">
            <a:avLst/>
          </a:prstGeom>
        </p:spPr>
        <p:txBody>
          <a:bodyPr/>
          <a:lstStyle>
            <a:lvl1pPr>
              <a:buNone/>
              <a:defRPr/>
            </a:lvl1pPr>
          </a:lstStyle>
          <a:p>
            <a:pPr lvl="0"/>
            <a:r>
              <a:rPr lang="en-US"/>
              <a:t>Click to edit Master text styles</a:t>
            </a:r>
          </a:p>
        </p:txBody>
      </p:sp>
      <p:sp>
        <p:nvSpPr>
          <p:cNvPr id="4" name="Date Placeholder 3"/>
          <p:cNvSpPr>
            <a:spLocks noGrp="1"/>
          </p:cNvSpPr>
          <p:nvPr>
            <p:ph type="dt" sz="half" idx="10"/>
          </p:nvPr>
        </p:nvSpPr>
        <p:spPr>
          <a:xfrm>
            <a:off x="441960" y="6291105"/>
            <a:ext cx="3154680" cy="408620"/>
          </a:xfrm>
        </p:spPr>
        <p:txBody>
          <a:bodyPr/>
          <a:lstStyle>
            <a:lvl1pPr>
              <a:defRPr>
                <a:solidFill>
                  <a:schemeClr val="tx1"/>
                </a:solidFill>
              </a:defRPr>
            </a:lvl1pPr>
          </a:lstStyle>
          <a:p>
            <a:fld id="{4C3901AA-390C-4BBF-B494-38B4816307C0}" type="datetimeFigureOut">
              <a:rPr lang="en-GB" smtClean="0"/>
              <a:t>04/02/2026</a:t>
            </a:fld>
            <a:endParaRPr lang="en-GB"/>
          </a:p>
        </p:txBody>
      </p:sp>
      <p:sp>
        <p:nvSpPr>
          <p:cNvPr id="5" name="Footer Placeholder 4"/>
          <p:cNvSpPr>
            <a:spLocks noGrp="1"/>
          </p:cNvSpPr>
          <p:nvPr>
            <p:ph type="ftr" sz="quarter" idx="11"/>
          </p:nvPr>
        </p:nvSpPr>
        <p:spPr>
          <a:xfrm>
            <a:off x="3840480" y="6312853"/>
            <a:ext cx="4531360" cy="365125"/>
          </a:xfrm>
        </p:spPr>
        <p:txBody>
          <a:bodyPr/>
          <a:lstStyle>
            <a:lvl1pPr>
              <a:defRPr>
                <a:solidFill>
                  <a:schemeClr val="tx1"/>
                </a:solidFill>
              </a:defRPr>
            </a:lvl1pPr>
          </a:lstStyle>
          <a:p>
            <a:endParaRPr lang="en-GB"/>
          </a:p>
        </p:txBody>
      </p:sp>
    </p:spTree>
    <p:extLst>
      <p:ext uri="{BB962C8B-B14F-4D97-AF65-F5344CB8AC3E}">
        <p14:creationId xmlns:p14="http://schemas.microsoft.com/office/powerpoint/2010/main" val="3817767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orizontal 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41960" y="136526"/>
            <a:ext cx="11262360" cy="880744"/>
          </a:xfrm>
        </p:spPr>
        <p:txBody>
          <a:bodyPr>
            <a:normAutofit/>
          </a:bodyPr>
          <a:lstStyle>
            <a:lvl1pPr>
              <a:defRPr sz="2800" b="1">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441960" y="1489393"/>
            <a:ext cx="5471160" cy="4351338"/>
          </a:xfrm>
          <a:prstGeom prst="rect">
            <a:avLst/>
          </a:prstGeom>
        </p:spPr>
        <p:txBody>
          <a:bodyPr/>
          <a:lstStyle>
            <a:lvl1pPr>
              <a:buNone/>
              <a:defRPr/>
            </a:lvl1pPr>
          </a:lstStyle>
          <a:p>
            <a:pPr lvl="0"/>
            <a:r>
              <a:rPr lang="en-US"/>
              <a:t>Click to edit Master text styles</a:t>
            </a:r>
          </a:p>
        </p:txBody>
      </p:sp>
      <p:sp>
        <p:nvSpPr>
          <p:cNvPr id="4" name="Date Placeholder 3"/>
          <p:cNvSpPr>
            <a:spLocks noGrp="1"/>
          </p:cNvSpPr>
          <p:nvPr>
            <p:ph type="dt" sz="half" idx="10"/>
          </p:nvPr>
        </p:nvSpPr>
        <p:spPr>
          <a:xfrm>
            <a:off x="441960" y="6291105"/>
            <a:ext cx="3154680" cy="408620"/>
          </a:xfrm>
        </p:spPr>
        <p:txBody>
          <a:bodyPr/>
          <a:lstStyle>
            <a:lvl1pPr>
              <a:defRPr>
                <a:solidFill>
                  <a:schemeClr val="tx1"/>
                </a:solidFill>
              </a:defRPr>
            </a:lvl1pPr>
          </a:lstStyle>
          <a:p>
            <a:endParaRPr lang="en-GB" dirty="0">
              <a:solidFill>
                <a:schemeClr val="tx1"/>
              </a:solidFill>
            </a:endParaRPr>
          </a:p>
        </p:txBody>
      </p:sp>
      <p:sp>
        <p:nvSpPr>
          <p:cNvPr id="5" name="Footer Placeholder 4"/>
          <p:cNvSpPr>
            <a:spLocks noGrp="1"/>
          </p:cNvSpPr>
          <p:nvPr>
            <p:ph type="ftr" sz="quarter" idx="11"/>
          </p:nvPr>
        </p:nvSpPr>
        <p:spPr>
          <a:xfrm>
            <a:off x="3840480" y="6312853"/>
            <a:ext cx="4531360" cy="365125"/>
          </a:xfrm>
        </p:spPr>
        <p:txBody>
          <a:bodyPr/>
          <a:lstStyle>
            <a:lvl1pPr>
              <a:defRPr>
                <a:solidFill>
                  <a:schemeClr val="tx1"/>
                </a:solidFill>
              </a:defRPr>
            </a:lvl1pPr>
          </a:lstStyle>
          <a:p>
            <a:endParaRPr lang="en-GB" dirty="0">
              <a:solidFill>
                <a:schemeClr val="tx1"/>
              </a:solidFill>
            </a:endParaRPr>
          </a:p>
        </p:txBody>
      </p:sp>
      <p:sp>
        <p:nvSpPr>
          <p:cNvPr id="6" name="Content Placeholder 2">
            <a:extLst>
              <a:ext uri="{FF2B5EF4-FFF2-40B4-BE49-F238E27FC236}">
                <a16:creationId xmlns:a16="http://schemas.microsoft.com/office/drawing/2014/main" id="{DBD81892-4640-4F5B-89B6-82E616676D20}"/>
              </a:ext>
            </a:extLst>
          </p:cNvPr>
          <p:cNvSpPr>
            <a:spLocks noGrp="1"/>
          </p:cNvSpPr>
          <p:nvPr>
            <p:ph idx="12"/>
          </p:nvPr>
        </p:nvSpPr>
        <p:spPr>
          <a:xfrm>
            <a:off x="6299202" y="1489392"/>
            <a:ext cx="5471160" cy="4351338"/>
          </a:xfrm>
          <a:prstGeom prst="rect">
            <a:avLst/>
          </a:prstGeom>
        </p:spPr>
        <p:txBody>
          <a:bodyPr/>
          <a:lstStyle>
            <a:lvl1pPr>
              <a:buNone/>
              <a:defRPr/>
            </a:lvl1pPr>
            <a:lvl2pPr>
              <a:buNone/>
              <a:defRPr/>
            </a:lvl2pPr>
            <a:lvl3pPr>
              <a:buNone/>
              <a:defRPr/>
            </a:lvl3pPr>
            <a:lvl4pPr>
              <a:buNone/>
              <a:defRPr/>
            </a:lvl4pPr>
            <a:lvl5pPr>
              <a:buFont typeface="Arial" panose="020B0604020202020204" pitchFamily="34" charset="0"/>
              <a:buNone/>
              <a:defRPr/>
            </a:lvl5pPr>
          </a:lstStyle>
          <a:p>
            <a:pPr lvl="0"/>
            <a:r>
              <a:rPr lang="en-US"/>
              <a:t>Click to edit Master text styles</a:t>
            </a:r>
          </a:p>
        </p:txBody>
      </p:sp>
    </p:spTree>
    <p:extLst>
      <p:ext uri="{BB962C8B-B14F-4D97-AF65-F5344CB8AC3E}">
        <p14:creationId xmlns:p14="http://schemas.microsoft.com/office/powerpoint/2010/main" val="1589767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Vertical 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41960" y="136526"/>
            <a:ext cx="11262360" cy="880744"/>
          </a:xfrm>
        </p:spPr>
        <p:txBody>
          <a:bodyPr>
            <a:normAutofit/>
          </a:bodyPr>
          <a:lstStyle>
            <a:lvl1pPr>
              <a:defRPr sz="2800" b="1">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441960" y="1489393"/>
            <a:ext cx="11328402" cy="1939607"/>
          </a:xfrm>
          <a:prstGeom prst="rect">
            <a:avLst/>
          </a:prstGeom>
        </p:spPr>
        <p:txBody>
          <a:bodyPr/>
          <a:lstStyle>
            <a:lvl1pPr>
              <a:buNone/>
              <a:defRPr/>
            </a:lvl1pPr>
          </a:lstStyle>
          <a:p>
            <a:pPr lvl="0"/>
            <a:r>
              <a:rPr lang="en-US"/>
              <a:t>Click to edit Master text styles</a:t>
            </a:r>
          </a:p>
        </p:txBody>
      </p:sp>
      <p:sp>
        <p:nvSpPr>
          <p:cNvPr id="4" name="Date Placeholder 3"/>
          <p:cNvSpPr>
            <a:spLocks noGrp="1"/>
          </p:cNvSpPr>
          <p:nvPr>
            <p:ph type="dt" sz="half" idx="10"/>
          </p:nvPr>
        </p:nvSpPr>
        <p:spPr>
          <a:xfrm>
            <a:off x="441960" y="6291105"/>
            <a:ext cx="3154680" cy="408620"/>
          </a:xfrm>
        </p:spPr>
        <p:txBody>
          <a:bodyPr/>
          <a:lstStyle>
            <a:lvl1pPr>
              <a:defRPr>
                <a:solidFill>
                  <a:schemeClr val="tx1"/>
                </a:solidFill>
              </a:defRPr>
            </a:lvl1pPr>
          </a:lstStyle>
          <a:p>
            <a:endParaRPr lang="en-GB" dirty="0">
              <a:solidFill>
                <a:schemeClr val="tx1"/>
              </a:solidFill>
            </a:endParaRPr>
          </a:p>
        </p:txBody>
      </p:sp>
      <p:sp>
        <p:nvSpPr>
          <p:cNvPr id="5" name="Footer Placeholder 4"/>
          <p:cNvSpPr>
            <a:spLocks noGrp="1"/>
          </p:cNvSpPr>
          <p:nvPr>
            <p:ph type="ftr" sz="quarter" idx="11"/>
          </p:nvPr>
        </p:nvSpPr>
        <p:spPr>
          <a:xfrm>
            <a:off x="3840480" y="6312853"/>
            <a:ext cx="4531360" cy="365125"/>
          </a:xfrm>
        </p:spPr>
        <p:txBody>
          <a:bodyPr/>
          <a:lstStyle>
            <a:lvl1pPr>
              <a:defRPr>
                <a:solidFill>
                  <a:schemeClr val="tx1"/>
                </a:solidFill>
              </a:defRPr>
            </a:lvl1pPr>
          </a:lstStyle>
          <a:p>
            <a:endParaRPr lang="en-GB" dirty="0">
              <a:solidFill>
                <a:schemeClr val="tx1"/>
              </a:solidFill>
            </a:endParaRPr>
          </a:p>
        </p:txBody>
      </p:sp>
      <p:sp>
        <p:nvSpPr>
          <p:cNvPr id="6" name="Content Placeholder 2">
            <a:extLst>
              <a:ext uri="{FF2B5EF4-FFF2-40B4-BE49-F238E27FC236}">
                <a16:creationId xmlns:a16="http://schemas.microsoft.com/office/drawing/2014/main" id="{DBD81892-4640-4F5B-89B6-82E616676D20}"/>
              </a:ext>
            </a:extLst>
          </p:cNvPr>
          <p:cNvSpPr>
            <a:spLocks noGrp="1"/>
          </p:cNvSpPr>
          <p:nvPr>
            <p:ph idx="12"/>
          </p:nvPr>
        </p:nvSpPr>
        <p:spPr>
          <a:xfrm>
            <a:off x="441960" y="3708400"/>
            <a:ext cx="11328402" cy="2132330"/>
          </a:xfrm>
          <a:prstGeom prst="rect">
            <a:avLst/>
          </a:prstGeom>
        </p:spPr>
        <p:txBody>
          <a:bodyPr/>
          <a:lstStyle>
            <a:lvl1pPr>
              <a:buNone/>
              <a:defRPr/>
            </a:lvl1pPr>
            <a:lvl2pPr>
              <a:buNone/>
              <a:defRPr/>
            </a:lvl2pPr>
            <a:lvl3pPr>
              <a:buNone/>
              <a:defRPr/>
            </a:lvl3pPr>
            <a:lvl4pPr>
              <a:buNone/>
              <a:defRPr/>
            </a:lvl4pPr>
            <a:lvl5pPr>
              <a:buFont typeface="Arial" panose="020B0604020202020204" pitchFamily="34" charset="0"/>
              <a:buNone/>
              <a:defRPr/>
            </a:lvl5pPr>
          </a:lstStyle>
          <a:p>
            <a:pPr lvl="0"/>
            <a:r>
              <a:rPr lang="en-US"/>
              <a:t>Click to edit Master text styles</a:t>
            </a:r>
          </a:p>
        </p:txBody>
      </p:sp>
    </p:spTree>
    <p:extLst>
      <p:ext uri="{BB962C8B-B14F-4D97-AF65-F5344CB8AC3E}">
        <p14:creationId xmlns:p14="http://schemas.microsoft.com/office/powerpoint/2010/main" val="1959699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ull Screen Image">
    <p:bg>
      <p:bgRef idx="1001">
        <a:schemeClr val="bg1"/>
      </p:bgRef>
    </p:bg>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DB7B1BF3-9174-4E4A-83C7-E602FF37B31D}"/>
              </a:ext>
            </a:extLst>
          </p:cNvPr>
          <p:cNvSpPr>
            <a:spLocks noGrp="1"/>
          </p:cNvSpPr>
          <p:nvPr>
            <p:ph sz="quarter" idx="10"/>
          </p:nvPr>
        </p:nvSpPr>
        <p:spPr>
          <a:xfrm>
            <a:off x="0" y="-10160"/>
            <a:ext cx="12192000" cy="6868160"/>
          </a:xfrm>
          <a:prstGeom prst="rect">
            <a:avLst/>
          </a:prstGeom>
        </p:spPr>
        <p:txBody>
          <a:bodyPr/>
          <a:lstStyle>
            <a:lvl1pPr>
              <a:buNone/>
              <a:defRPr/>
            </a:lvl1pPr>
          </a:lstStyle>
          <a:p>
            <a:pPr lvl="0"/>
            <a:r>
              <a:rPr lang="en-US"/>
              <a:t>Click to edit Master text styles</a:t>
            </a:r>
          </a:p>
        </p:txBody>
      </p:sp>
    </p:spTree>
    <p:extLst>
      <p:ext uri="{BB962C8B-B14F-4D97-AF65-F5344CB8AC3E}">
        <p14:creationId xmlns:p14="http://schemas.microsoft.com/office/powerpoint/2010/main" val="299861918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4498975"/>
            <a:ext cx="10515600" cy="1325563"/>
          </a:xfrm>
          <a:prstGeom prst="rect">
            <a:avLst/>
          </a:prstGeom>
        </p:spPr>
        <p:txBody>
          <a:bodyPr vert="horz" lIns="91440" tIns="45720" rIns="91440" bIns="45720" rtlCol="0" anchor="ctr">
            <a:noAutofit/>
          </a:bodyPr>
          <a:lstStyle/>
          <a:p>
            <a:r>
              <a:rPr lang="en-US" dirty="0"/>
              <a:t>Aa</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3901AA-390C-4BBF-B494-38B4816307C0}" type="datetimeFigureOut">
              <a:rPr lang="en-GB" smtClean="0"/>
              <a:t>04/02/2026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24D597-2E1B-4F81-9859-A40055605CAB}" type="slidenum">
              <a:rPr lang="en-GB" smtClean="0"/>
              <a:t>‹#›</a:t>
            </a:fld>
            <a:endParaRPr lang="en-GB"/>
          </a:p>
        </p:txBody>
      </p:sp>
    </p:spTree>
    <p:extLst>
      <p:ext uri="{BB962C8B-B14F-4D97-AF65-F5344CB8AC3E}">
        <p14:creationId xmlns:p14="http://schemas.microsoft.com/office/powerpoint/2010/main" val="2949413984"/>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Lst>
  <p:txStyles>
    <p:titleStyle>
      <a:lvl1pPr algn="l" defTabSz="914400" rtl="0" eaLnBrk="1" latinLnBrk="0" hangingPunct="1">
        <a:lnSpc>
          <a:spcPct val="90000"/>
        </a:lnSpc>
        <a:spcBef>
          <a:spcPct val="0"/>
        </a:spcBef>
        <a:buNone/>
        <a:defRPr lang="en-US" sz="11500" b="1" kern="1200" cap="none" baseline="0" dirty="0">
          <a:solidFill>
            <a:schemeClr val="bg1"/>
          </a:solidFill>
          <a:latin typeface="+mn-lt"/>
          <a:ea typeface="+mn-ea"/>
          <a:cs typeface="+mn-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jp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jpg"/><Relationship Id="rId5" Type="http://schemas.openxmlformats.org/officeDocument/2006/relationships/image" Target="../media/image15.jpg"/><Relationship Id="rId4" Type="http://schemas.openxmlformats.org/officeDocument/2006/relationships/image" Target="../media/image14.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4.jp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jpg"/><Relationship Id="rId5" Type="http://schemas.openxmlformats.org/officeDocument/2006/relationships/image" Target="../media/image16.jpg"/><Relationship Id="rId4" Type="http://schemas.openxmlformats.org/officeDocument/2006/relationships/image" Target="../media/image15.jpg"/></Relationships>
</file>

<file path=ppt/slides/_rels/slide10.xml.rels><?xml version="1.0" encoding="UTF-8" standalone="yes"?>
<Relationships xmlns="http://schemas.openxmlformats.org/package/2006/relationships"><Relationship Id="rId8" Type="http://schemas.openxmlformats.org/officeDocument/2006/relationships/image" Target="../media/image26.jpg"/><Relationship Id="rId3" Type="http://schemas.openxmlformats.org/officeDocument/2006/relationships/image" Target="../media/image21.png"/><Relationship Id="rId7" Type="http://schemas.openxmlformats.org/officeDocument/2006/relationships/image" Target="../media/image25.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4.JPG"/><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1ABDAFC-CC85-4FDB-A24D-8B64762C426F}"/>
              </a:ext>
            </a:extLst>
          </p:cNvPr>
          <p:cNvSpPr>
            <a:spLocks noGrp="1"/>
          </p:cNvSpPr>
          <p:nvPr>
            <p:ph type="title"/>
          </p:nvPr>
        </p:nvSpPr>
        <p:spPr/>
        <p:txBody>
          <a:bodyPr/>
          <a:lstStyle/>
          <a:p>
            <a:pPr algn="ctr"/>
            <a:r>
              <a:rPr lang="en-US" altLang="zh-CN" dirty="0"/>
              <a:t>A Comprehensive Framework for Classifying Biotic and Abiotic Stress in Plants</a:t>
            </a:r>
            <a:endParaRPr lang="en-GB" dirty="0"/>
          </a:p>
        </p:txBody>
      </p:sp>
      <p:sp>
        <p:nvSpPr>
          <p:cNvPr id="6" name="Text Placeholder 5">
            <a:extLst>
              <a:ext uri="{FF2B5EF4-FFF2-40B4-BE49-F238E27FC236}">
                <a16:creationId xmlns:a16="http://schemas.microsoft.com/office/drawing/2014/main" id="{40020F4A-ECBD-40E1-A67B-56A1BBA19EF4}"/>
              </a:ext>
            </a:extLst>
          </p:cNvPr>
          <p:cNvSpPr>
            <a:spLocks noGrp="1"/>
          </p:cNvSpPr>
          <p:nvPr>
            <p:ph type="body" sz="quarter" idx="10"/>
          </p:nvPr>
        </p:nvSpPr>
        <p:spPr/>
        <p:txBody>
          <a:bodyPr/>
          <a:lstStyle/>
          <a:p>
            <a:r>
              <a:rPr lang="en-GB" dirty="0"/>
              <a:t>Presenter: Hong Chen</a:t>
            </a:r>
          </a:p>
        </p:txBody>
      </p:sp>
    </p:spTree>
    <p:extLst>
      <p:ext uri="{BB962C8B-B14F-4D97-AF65-F5344CB8AC3E}">
        <p14:creationId xmlns:p14="http://schemas.microsoft.com/office/powerpoint/2010/main" val="359952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A3FAC2-7D00-B1DA-EF92-6E8F8B4A76E4}"/>
              </a:ext>
            </a:extLst>
          </p:cNvPr>
          <p:cNvSpPr>
            <a:spLocks noGrp="1"/>
          </p:cNvSpPr>
          <p:nvPr>
            <p:ph type="title"/>
          </p:nvPr>
        </p:nvSpPr>
        <p:spPr/>
        <p:txBody>
          <a:bodyPr/>
          <a:lstStyle/>
          <a:p>
            <a:r>
              <a:rPr lang="en-US" altLang="zh-CN" dirty="0"/>
              <a:t>Contents</a:t>
            </a:r>
            <a:endParaRPr lang="zh-CN" altLang="en-US" dirty="0"/>
          </a:p>
        </p:txBody>
      </p:sp>
      <p:sp>
        <p:nvSpPr>
          <p:cNvPr id="5" name="文本框 4">
            <a:extLst>
              <a:ext uri="{FF2B5EF4-FFF2-40B4-BE49-F238E27FC236}">
                <a16:creationId xmlns:a16="http://schemas.microsoft.com/office/drawing/2014/main" id="{4B9DE4A6-4590-C730-FE50-521B8D2D47A3}"/>
              </a:ext>
            </a:extLst>
          </p:cNvPr>
          <p:cNvSpPr txBox="1"/>
          <p:nvPr/>
        </p:nvSpPr>
        <p:spPr>
          <a:xfrm>
            <a:off x="901700" y="1752084"/>
            <a:ext cx="8655050" cy="2805063"/>
          </a:xfrm>
          <a:prstGeom prst="rect">
            <a:avLst/>
          </a:prstGeom>
          <a:noFill/>
        </p:spPr>
        <p:txBody>
          <a:bodyPr wrap="square">
            <a:spAutoFit/>
          </a:bodyPr>
          <a:lstStyle/>
          <a:p>
            <a:pPr marL="342900" indent="-342900">
              <a:lnSpc>
                <a:spcPct val="150000"/>
              </a:lnSpc>
              <a:buAutoNum type="arabicPeriod"/>
            </a:pPr>
            <a:r>
              <a:rPr lang="en-US" altLang="zh-CN" sz="2400" b="1" i="1" dirty="0">
                <a:latin typeface="Calibri" panose="020F0502020204030204" pitchFamily="34" charset="0"/>
                <a:ea typeface="Calibri" panose="020F0502020204030204" pitchFamily="34" charset="0"/>
                <a:cs typeface="Calibri" panose="020F0502020204030204" pitchFamily="34" charset="0"/>
              </a:rPr>
              <a:t>Introduction &amp; Background</a:t>
            </a:r>
          </a:p>
          <a:p>
            <a:pPr marL="342900" indent="-342900">
              <a:lnSpc>
                <a:spcPct val="150000"/>
              </a:lnSpc>
              <a:buAutoNum type="arabicPeriod"/>
            </a:pPr>
            <a:r>
              <a:rPr lang="en-US" altLang="zh-CN" sz="2400" b="1" i="1" dirty="0">
                <a:latin typeface="Calibri" panose="020F0502020204030204" pitchFamily="34" charset="0"/>
                <a:ea typeface="Calibri" panose="020F0502020204030204" pitchFamily="34" charset="0"/>
                <a:cs typeface="Calibri" panose="020F0502020204030204" pitchFamily="34" charset="0"/>
              </a:rPr>
              <a:t>Theoretical Analysis</a:t>
            </a:r>
          </a:p>
          <a:p>
            <a:pPr marL="342900" indent="-342900">
              <a:lnSpc>
                <a:spcPct val="150000"/>
              </a:lnSpc>
              <a:buAutoNum type="arabicPeriod"/>
            </a:pPr>
            <a:r>
              <a:rPr lang="en-US" altLang="zh-CN" sz="2400" b="1" i="1" dirty="0">
                <a:latin typeface="Calibri" panose="020F0502020204030204" pitchFamily="34" charset="0"/>
                <a:ea typeface="Calibri" panose="020F0502020204030204" pitchFamily="34" charset="0"/>
                <a:cs typeface="Calibri" panose="020F0502020204030204" pitchFamily="34" charset="0"/>
              </a:rPr>
              <a:t>Data Engineering &amp; Rigorous Partitioning</a:t>
            </a:r>
          </a:p>
          <a:p>
            <a:pPr marL="342900" indent="-342900">
              <a:lnSpc>
                <a:spcPct val="150000"/>
              </a:lnSpc>
              <a:buAutoNum type="arabicPeriod"/>
            </a:pPr>
            <a:r>
              <a:rPr lang="en-US" altLang="zh-CN" sz="2400" b="1" i="1" dirty="0">
                <a:latin typeface="Calibri" panose="020F0502020204030204" pitchFamily="34" charset="0"/>
                <a:ea typeface="Calibri" panose="020F0502020204030204" pitchFamily="34" charset="0"/>
                <a:cs typeface="Calibri" panose="020F0502020204030204" pitchFamily="34" charset="0"/>
              </a:rPr>
              <a:t>Results and Performance Analysis</a:t>
            </a:r>
          </a:p>
          <a:p>
            <a:pPr marL="342900" indent="-342900">
              <a:lnSpc>
                <a:spcPct val="150000"/>
              </a:lnSpc>
              <a:buAutoNum type="arabicPeriod"/>
            </a:pPr>
            <a:r>
              <a:rPr lang="en-US" altLang="zh-CN" sz="2400" b="1" i="1" dirty="0">
                <a:latin typeface="Calibri" panose="020F0502020204030204" pitchFamily="34" charset="0"/>
                <a:ea typeface="Calibri" panose="020F0502020204030204" pitchFamily="34" charset="0"/>
                <a:cs typeface="Calibri" panose="020F0502020204030204" pitchFamily="34" charset="0"/>
              </a:rPr>
              <a:t>Discussion &amp; Conclusion</a:t>
            </a:r>
            <a:endParaRPr lang="zh-CN" altLang="en-US" sz="2400" b="1" i="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55680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385A2D-521F-B614-2630-686059B8C0A3}"/>
              </a:ext>
            </a:extLst>
          </p:cNvPr>
          <p:cNvSpPr>
            <a:spLocks noGrp="1"/>
          </p:cNvSpPr>
          <p:nvPr>
            <p:ph type="title"/>
          </p:nvPr>
        </p:nvSpPr>
        <p:spPr/>
        <p:txBody>
          <a:bodyPr/>
          <a:lstStyle/>
          <a:p>
            <a:r>
              <a:rPr lang="en-US" altLang="zh-CN" dirty="0"/>
              <a:t>1. Introduction &amp; Background</a:t>
            </a:r>
            <a:endParaRPr lang="zh-CN" altLang="en-US" dirty="0"/>
          </a:p>
        </p:txBody>
      </p:sp>
      <p:pic>
        <p:nvPicPr>
          <p:cNvPr id="5" name="内容占位符 4" descr="图示&#10;&#10;AI 生成的内容可能不正确。">
            <a:extLst>
              <a:ext uri="{FF2B5EF4-FFF2-40B4-BE49-F238E27FC236}">
                <a16:creationId xmlns:a16="http://schemas.microsoft.com/office/drawing/2014/main" id="{143CEF88-8815-CFA5-D195-0DBA31B2EDF3}"/>
              </a:ext>
            </a:extLst>
          </p:cNvPr>
          <p:cNvPicPr>
            <a:picLocks noGrp="1" noChangeAspect="1"/>
          </p:cNvPicPr>
          <p:nvPr>
            <p:ph idx="1"/>
          </p:nvPr>
        </p:nvPicPr>
        <p:blipFill>
          <a:blip r:embed="rId3"/>
          <a:stretch>
            <a:fillRect/>
          </a:stretch>
        </p:blipFill>
        <p:spPr>
          <a:xfrm>
            <a:off x="8192114" y="2081686"/>
            <a:ext cx="3816088" cy="3363913"/>
          </a:xfrm>
          <a:prstGeom prst="rect">
            <a:avLst/>
          </a:prstGeom>
        </p:spPr>
      </p:pic>
      <p:sp>
        <p:nvSpPr>
          <p:cNvPr id="7" name="文本框 6">
            <a:extLst>
              <a:ext uri="{FF2B5EF4-FFF2-40B4-BE49-F238E27FC236}">
                <a16:creationId xmlns:a16="http://schemas.microsoft.com/office/drawing/2014/main" id="{8FC59229-3727-8E54-0530-33CC69819B18}"/>
              </a:ext>
            </a:extLst>
          </p:cNvPr>
          <p:cNvSpPr txBox="1"/>
          <p:nvPr/>
        </p:nvSpPr>
        <p:spPr>
          <a:xfrm>
            <a:off x="488950" y="1593334"/>
            <a:ext cx="7181850" cy="3077766"/>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t>The Global Stakes:</a:t>
            </a:r>
          </a:p>
          <a:p>
            <a:pPr lvl="1">
              <a:spcBef>
                <a:spcPts val="600"/>
              </a:spcBef>
              <a:spcAft>
                <a:spcPts val="600"/>
              </a:spcAft>
            </a:pPr>
            <a:r>
              <a:rPr lang="en-US" altLang="zh-CN" sz="1600" dirty="0"/>
              <a:t>Agricultural Productivity: Plant stress is a primary threat to food security, causing 20-40% annual yield reduction [1].</a:t>
            </a:r>
          </a:p>
          <a:p>
            <a:pPr lvl="1"/>
            <a:endParaRPr lang="en-US" altLang="zh-CN" sz="1600" dirty="0"/>
          </a:p>
          <a:p>
            <a:pPr marL="285750" indent="-285750">
              <a:buFont typeface="Wingdings" panose="05000000000000000000" pitchFamily="2" charset="2"/>
              <a:buChar char="Ø"/>
            </a:pPr>
            <a:r>
              <a:rPr lang="en-US" altLang="zh-CN" b="1" dirty="0"/>
              <a:t>The Taxonomic Challenge</a:t>
            </a:r>
          </a:p>
          <a:p>
            <a:pPr lvl="1"/>
            <a:r>
              <a:rPr lang="en-US" altLang="zh-CN" sz="1600" dirty="0"/>
              <a:t>Biotic: Pathogens and pests (Requires chemical intervention).</a:t>
            </a:r>
          </a:p>
          <a:p>
            <a:pPr lvl="1"/>
            <a:r>
              <a:rPr lang="en-US" altLang="zh-CN" sz="1600" dirty="0"/>
              <a:t>Abiotic: Light, water, temperature, nutrient deficiency (Requires environmental management).</a:t>
            </a:r>
          </a:p>
          <a:p>
            <a:pPr marL="285750" indent="-285750">
              <a:buFont typeface="Wingdings" panose="05000000000000000000" pitchFamily="2" charset="2"/>
              <a:buChar char="Ø"/>
            </a:pPr>
            <a:endParaRPr lang="en-US" altLang="zh-CN" b="1" dirty="0"/>
          </a:p>
          <a:p>
            <a:pPr marL="285750" indent="-285750">
              <a:buFont typeface="Wingdings" panose="05000000000000000000" pitchFamily="2" charset="2"/>
              <a:buChar char="Ø"/>
            </a:pPr>
            <a:r>
              <a:rPr lang="en-US" altLang="zh-CN" b="1" dirty="0"/>
              <a:t>Shift in Methodology</a:t>
            </a:r>
          </a:p>
          <a:p>
            <a:pPr lvl="1"/>
            <a:r>
              <a:rPr lang="en-US" altLang="zh-CN" sz="1600" dirty="0"/>
              <a:t>Moving from visual scoring to non-invasive optical imaging and AI [2].</a:t>
            </a:r>
            <a:endParaRPr lang="zh-CN" altLang="en-US" sz="1600" dirty="0"/>
          </a:p>
        </p:txBody>
      </p:sp>
    </p:spTree>
    <p:extLst>
      <p:ext uri="{BB962C8B-B14F-4D97-AF65-F5344CB8AC3E}">
        <p14:creationId xmlns:p14="http://schemas.microsoft.com/office/powerpoint/2010/main" val="568204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E65B8F-AA8D-A680-D37D-92D8A55BB406}"/>
              </a:ext>
            </a:extLst>
          </p:cNvPr>
          <p:cNvSpPr>
            <a:spLocks noGrp="1"/>
          </p:cNvSpPr>
          <p:nvPr>
            <p:ph type="title"/>
          </p:nvPr>
        </p:nvSpPr>
        <p:spPr/>
        <p:txBody>
          <a:bodyPr/>
          <a:lstStyle/>
          <a:p>
            <a:r>
              <a:rPr lang="en-US" altLang="zh-CN" dirty="0"/>
              <a:t>1. Introduction &amp; Background</a:t>
            </a:r>
            <a:endParaRPr lang="zh-CN" altLang="en-US" dirty="0"/>
          </a:p>
        </p:txBody>
      </p:sp>
      <p:grpSp>
        <p:nvGrpSpPr>
          <p:cNvPr id="21" name="组合 20">
            <a:extLst>
              <a:ext uri="{FF2B5EF4-FFF2-40B4-BE49-F238E27FC236}">
                <a16:creationId xmlns:a16="http://schemas.microsoft.com/office/drawing/2014/main" id="{2C454770-758B-BCFA-8E0C-ACF767AFF128}"/>
              </a:ext>
            </a:extLst>
          </p:cNvPr>
          <p:cNvGrpSpPr/>
          <p:nvPr/>
        </p:nvGrpSpPr>
        <p:grpSpPr>
          <a:xfrm>
            <a:off x="1555867" y="3178262"/>
            <a:ext cx="8773650" cy="2463328"/>
            <a:chOff x="1555867" y="3178262"/>
            <a:chExt cx="8773650" cy="2463328"/>
          </a:xfrm>
        </p:grpSpPr>
        <p:pic>
          <p:nvPicPr>
            <p:cNvPr id="7" name="图片 6">
              <a:extLst>
                <a:ext uri="{FF2B5EF4-FFF2-40B4-BE49-F238E27FC236}">
                  <a16:creationId xmlns:a16="http://schemas.microsoft.com/office/drawing/2014/main" id="{4A58A2F1-866D-7392-3A1B-7C2A925F6BAA}"/>
                </a:ext>
              </a:extLst>
            </p:cNvPr>
            <p:cNvPicPr>
              <a:picLocks noChangeAspect="1"/>
            </p:cNvPicPr>
            <p:nvPr/>
          </p:nvPicPr>
          <p:blipFill>
            <a:blip r:embed="rId3"/>
            <a:stretch>
              <a:fillRect/>
            </a:stretch>
          </p:blipFill>
          <p:spPr>
            <a:xfrm>
              <a:off x="5367198" y="3426045"/>
              <a:ext cx="1150986" cy="1548960"/>
            </a:xfrm>
            <a:prstGeom prst="rect">
              <a:avLst/>
            </a:prstGeom>
          </p:spPr>
        </p:pic>
        <p:pic>
          <p:nvPicPr>
            <p:cNvPr id="9" name="图片 8">
              <a:extLst>
                <a:ext uri="{FF2B5EF4-FFF2-40B4-BE49-F238E27FC236}">
                  <a16:creationId xmlns:a16="http://schemas.microsoft.com/office/drawing/2014/main" id="{0A747C32-6F44-BC91-1CB1-903375479384}"/>
                </a:ext>
              </a:extLst>
            </p:cNvPr>
            <p:cNvPicPr>
              <a:picLocks noChangeAspect="1"/>
            </p:cNvPicPr>
            <p:nvPr/>
          </p:nvPicPr>
          <p:blipFill>
            <a:blip r:embed="rId4"/>
            <a:stretch>
              <a:fillRect/>
            </a:stretch>
          </p:blipFill>
          <p:spPr>
            <a:xfrm rot="5400000">
              <a:off x="1312670" y="3421459"/>
              <a:ext cx="1945580" cy="1459185"/>
            </a:xfrm>
            <a:prstGeom prst="rect">
              <a:avLst/>
            </a:prstGeom>
          </p:spPr>
        </p:pic>
        <p:pic>
          <p:nvPicPr>
            <p:cNvPr id="11" name="图片 10">
              <a:extLst>
                <a:ext uri="{FF2B5EF4-FFF2-40B4-BE49-F238E27FC236}">
                  <a16:creationId xmlns:a16="http://schemas.microsoft.com/office/drawing/2014/main" id="{E5D2CDE8-0D86-96D8-DAEA-6E096DF144AD}"/>
                </a:ext>
              </a:extLst>
            </p:cNvPr>
            <p:cNvPicPr>
              <a:picLocks noChangeAspect="1"/>
            </p:cNvPicPr>
            <p:nvPr/>
          </p:nvPicPr>
          <p:blipFill>
            <a:blip r:embed="rId5"/>
            <a:stretch>
              <a:fillRect/>
            </a:stretch>
          </p:blipFill>
          <p:spPr>
            <a:xfrm flipH="1">
              <a:off x="8870329" y="3254975"/>
              <a:ext cx="1459188" cy="1945583"/>
            </a:xfrm>
            <a:prstGeom prst="rect">
              <a:avLst/>
            </a:prstGeom>
          </p:spPr>
        </p:pic>
        <p:sp>
          <p:nvSpPr>
            <p:cNvPr id="14" name="箭头: 右 13">
              <a:extLst>
                <a:ext uri="{FF2B5EF4-FFF2-40B4-BE49-F238E27FC236}">
                  <a16:creationId xmlns:a16="http://schemas.microsoft.com/office/drawing/2014/main" id="{A715AEAE-5C09-191F-8006-5DA4BE8ED722}"/>
                </a:ext>
              </a:extLst>
            </p:cNvPr>
            <p:cNvSpPr/>
            <p:nvPr/>
          </p:nvSpPr>
          <p:spPr>
            <a:xfrm rot="10800000">
              <a:off x="3114201" y="4132052"/>
              <a:ext cx="2090598" cy="232022"/>
            </a:xfrm>
            <a:prstGeom prst="rightArrow">
              <a:avLst/>
            </a:prstGeom>
            <a:solidFill>
              <a:schemeClr val="bg1"/>
            </a:solidFill>
            <a:ln w="1270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dirty="0"/>
            </a:p>
          </p:txBody>
        </p:sp>
        <p:sp>
          <p:nvSpPr>
            <p:cNvPr id="15" name="文本框 14">
              <a:extLst>
                <a:ext uri="{FF2B5EF4-FFF2-40B4-BE49-F238E27FC236}">
                  <a16:creationId xmlns:a16="http://schemas.microsoft.com/office/drawing/2014/main" id="{B4FB2757-EE17-0360-6A67-C8E6EEC451AE}"/>
                </a:ext>
              </a:extLst>
            </p:cNvPr>
            <p:cNvSpPr txBox="1"/>
            <p:nvPr/>
          </p:nvSpPr>
          <p:spPr>
            <a:xfrm>
              <a:off x="1622202" y="5293118"/>
              <a:ext cx="1326515" cy="338554"/>
            </a:xfrm>
            <a:prstGeom prst="rect">
              <a:avLst/>
            </a:prstGeom>
            <a:noFill/>
          </p:spPr>
          <p:txBody>
            <a:bodyPr wrap="square" rtlCol="0">
              <a:spAutoFit/>
            </a:bodyPr>
            <a:lstStyle/>
            <a:p>
              <a:r>
                <a:rPr lang="en-US" altLang="zh-CN" sz="1600" b="1" dirty="0">
                  <a:latin typeface="Calibri" panose="020F0502020204030204" pitchFamily="34" charset="0"/>
                  <a:ea typeface="Calibri" panose="020F0502020204030204" pitchFamily="34" charset="0"/>
                  <a:cs typeface="Calibri" panose="020F0502020204030204" pitchFamily="34" charset="0"/>
                </a:rPr>
                <a:t>Abiotic stress</a:t>
              </a:r>
              <a:endParaRPr lang="zh-CN" altLang="en-US" sz="1600" b="1" dirty="0">
                <a:latin typeface="Calibri" panose="020F0502020204030204" pitchFamily="34" charset="0"/>
                <a:cs typeface="Calibri" panose="020F0502020204030204" pitchFamily="34" charset="0"/>
              </a:endParaRPr>
            </a:p>
          </p:txBody>
        </p:sp>
        <p:sp>
          <p:nvSpPr>
            <p:cNvPr id="16" name="文本框 15">
              <a:extLst>
                <a:ext uri="{FF2B5EF4-FFF2-40B4-BE49-F238E27FC236}">
                  <a16:creationId xmlns:a16="http://schemas.microsoft.com/office/drawing/2014/main" id="{C863508A-4BC8-DA4E-E8CE-D74A9A53AFBF}"/>
                </a:ext>
              </a:extLst>
            </p:cNvPr>
            <p:cNvSpPr txBox="1"/>
            <p:nvPr/>
          </p:nvSpPr>
          <p:spPr>
            <a:xfrm>
              <a:off x="9003002" y="5279742"/>
              <a:ext cx="1326515" cy="338554"/>
            </a:xfrm>
            <a:prstGeom prst="rect">
              <a:avLst/>
            </a:prstGeom>
            <a:noFill/>
          </p:spPr>
          <p:txBody>
            <a:bodyPr wrap="square" rtlCol="0">
              <a:spAutoFit/>
            </a:bodyPr>
            <a:lstStyle/>
            <a:p>
              <a:r>
                <a:rPr lang="en-US" altLang="zh-CN" sz="1600" b="1" dirty="0">
                  <a:latin typeface="Calibri" panose="020F0502020204030204" pitchFamily="34" charset="0"/>
                  <a:ea typeface="Calibri" panose="020F0502020204030204" pitchFamily="34" charset="0"/>
                  <a:cs typeface="Calibri" panose="020F0502020204030204" pitchFamily="34" charset="0"/>
                </a:rPr>
                <a:t>Biotic stress</a:t>
              </a:r>
              <a:endParaRPr lang="zh-CN" altLang="en-US" sz="1600" b="1" dirty="0">
                <a:latin typeface="Calibri" panose="020F0502020204030204" pitchFamily="34" charset="0"/>
                <a:cs typeface="Calibri" panose="020F0502020204030204" pitchFamily="34" charset="0"/>
              </a:endParaRPr>
            </a:p>
          </p:txBody>
        </p:sp>
        <p:sp>
          <p:nvSpPr>
            <p:cNvPr id="17" name="文本框 16">
              <a:extLst>
                <a:ext uri="{FF2B5EF4-FFF2-40B4-BE49-F238E27FC236}">
                  <a16:creationId xmlns:a16="http://schemas.microsoft.com/office/drawing/2014/main" id="{BC2362DF-999F-C6D7-8D9F-945826F12027}"/>
                </a:ext>
              </a:extLst>
            </p:cNvPr>
            <p:cNvSpPr txBox="1"/>
            <p:nvPr/>
          </p:nvSpPr>
          <p:spPr>
            <a:xfrm>
              <a:off x="5432742" y="5303036"/>
              <a:ext cx="1326515" cy="338554"/>
            </a:xfrm>
            <a:prstGeom prst="rect">
              <a:avLst/>
            </a:prstGeom>
            <a:noFill/>
          </p:spPr>
          <p:txBody>
            <a:bodyPr wrap="square" rtlCol="0">
              <a:spAutoFit/>
            </a:bodyPr>
            <a:lstStyle/>
            <a:p>
              <a:r>
                <a:rPr lang="en-US" altLang="zh-CN" sz="1600" b="1" dirty="0">
                  <a:latin typeface="Calibri" panose="020F0502020204030204" pitchFamily="34" charset="0"/>
                  <a:ea typeface="Calibri" panose="020F0502020204030204" pitchFamily="34" charset="0"/>
                  <a:cs typeface="Calibri" panose="020F0502020204030204" pitchFamily="34" charset="0"/>
                </a:rPr>
                <a:t>Healthy</a:t>
              </a:r>
              <a:endParaRPr lang="zh-CN" altLang="en-US" sz="1600" b="1" dirty="0">
                <a:latin typeface="Calibri" panose="020F0502020204030204" pitchFamily="34" charset="0"/>
                <a:cs typeface="Calibri" panose="020F0502020204030204" pitchFamily="34" charset="0"/>
              </a:endParaRPr>
            </a:p>
          </p:txBody>
        </p:sp>
        <p:sp>
          <p:nvSpPr>
            <p:cNvPr id="18" name="文本框 17">
              <a:extLst>
                <a:ext uri="{FF2B5EF4-FFF2-40B4-BE49-F238E27FC236}">
                  <a16:creationId xmlns:a16="http://schemas.microsoft.com/office/drawing/2014/main" id="{19A4A910-25A7-2330-3B5C-23C3525A47CA}"/>
                </a:ext>
              </a:extLst>
            </p:cNvPr>
            <p:cNvSpPr txBox="1"/>
            <p:nvPr/>
          </p:nvSpPr>
          <p:spPr>
            <a:xfrm>
              <a:off x="3302961" y="3608832"/>
              <a:ext cx="1894811" cy="523220"/>
            </a:xfrm>
            <a:prstGeom prst="rect">
              <a:avLst/>
            </a:prstGeom>
            <a:noFill/>
          </p:spPr>
          <p:txBody>
            <a:bodyPr wrap="square" rtlCol="0">
              <a:spAutoFit/>
            </a:bodyPr>
            <a:lstStyle/>
            <a:p>
              <a:r>
                <a:rPr lang="en-US" altLang="zh-CN" sz="1400" b="1" dirty="0">
                  <a:latin typeface="Calibri" panose="020F0502020204030204" pitchFamily="34" charset="0"/>
                  <a:ea typeface="Calibri" panose="020F0502020204030204" pitchFamily="34" charset="0"/>
                  <a:cs typeface="Calibri" panose="020F0502020204030204" pitchFamily="34" charset="0"/>
                </a:rPr>
                <a:t>Abiotic Path (e.g., Nutritional Deficiency)</a:t>
              </a:r>
              <a:endParaRPr lang="zh-CN" altLang="en-US" sz="1400" b="1" dirty="0">
                <a:latin typeface="Calibri" panose="020F0502020204030204" pitchFamily="34" charset="0"/>
                <a:cs typeface="Calibri" panose="020F0502020204030204" pitchFamily="34" charset="0"/>
              </a:endParaRPr>
            </a:p>
          </p:txBody>
        </p:sp>
        <p:sp>
          <p:nvSpPr>
            <p:cNvPr id="19" name="箭头: 右 18">
              <a:extLst>
                <a:ext uri="{FF2B5EF4-FFF2-40B4-BE49-F238E27FC236}">
                  <a16:creationId xmlns:a16="http://schemas.microsoft.com/office/drawing/2014/main" id="{C3D00F1F-E3AF-928A-596E-2AD5257D114C}"/>
                </a:ext>
              </a:extLst>
            </p:cNvPr>
            <p:cNvSpPr/>
            <p:nvPr/>
          </p:nvSpPr>
          <p:spPr>
            <a:xfrm>
              <a:off x="6610305" y="4084514"/>
              <a:ext cx="2090598" cy="232022"/>
            </a:xfrm>
            <a:prstGeom prst="rightArrow">
              <a:avLst/>
            </a:prstGeom>
            <a:solidFill>
              <a:schemeClr val="bg1"/>
            </a:solidFill>
            <a:ln w="1270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dirty="0"/>
            </a:p>
          </p:txBody>
        </p:sp>
        <p:sp>
          <p:nvSpPr>
            <p:cNvPr id="20" name="文本框 19">
              <a:extLst>
                <a:ext uri="{FF2B5EF4-FFF2-40B4-BE49-F238E27FC236}">
                  <a16:creationId xmlns:a16="http://schemas.microsoft.com/office/drawing/2014/main" id="{8DC2285C-08CC-B5AF-0DA5-43B29629946D}"/>
                </a:ext>
              </a:extLst>
            </p:cNvPr>
            <p:cNvSpPr txBox="1"/>
            <p:nvPr/>
          </p:nvSpPr>
          <p:spPr>
            <a:xfrm>
              <a:off x="6680583" y="3600684"/>
              <a:ext cx="1894811" cy="523220"/>
            </a:xfrm>
            <a:prstGeom prst="rect">
              <a:avLst/>
            </a:prstGeom>
            <a:noFill/>
          </p:spPr>
          <p:txBody>
            <a:bodyPr wrap="square" rtlCol="0">
              <a:spAutoFit/>
            </a:bodyPr>
            <a:lstStyle/>
            <a:p>
              <a:r>
                <a:rPr lang="en-US" altLang="zh-CN" sz="1400" b="1" dirty="0">
                  <a:latin typeface="Calibri" panose="020F0502020204030204" pitchFamily="34" charset="0"/>
                  <a:ea typeface="Calibri" panose="020F0502020204030204" pitchFamily="34" charset="0"/>
                  <a:cs typeface="Calibri" panose="020F0502020204030204" pitchFamily="34" charset="0"/>
                </a:rPr>
                <a:t>Biotic Path (e.g., Fungal/Viral Infection)</a:t>
              </a:r>
              <a:endParaRPr lang="zh-CN" altLang="en-US" sz="1400" b="1" dirty="0">
                <a:latin typeface="Calibri" panose="020F0502020204030204" pitchFamily="34" charset="0"/>
                <a:cs typeface="Calibri" panose="020F0502020204030204" pitchFamily="34" charset="0"/>
              </a:endParaRPr>
            </a:p>
          </p:txBody>
        </p:sp>
      </p:grpSp>
      <p:sp>
        <p:nvSpPr>
          <p:cNvPr id="23" name="文本框 22">
            <a:extLst>
              <a:ext uri="{FF2B5EF4-FFF2-40B4-BE49-F238E27FC236}">
                <a16:creationId xmlns:a16="http://schemas.microsoft.com/office/drawing/2014/main" id="{ADD62128-E5EA-AAA3-4179-2CDF41122FAB}"/>
              </a:ext>
            </a:extLst>
          </p:cNvPr>
          <p:cNvSpPr txBox="1"/>
          <p:nvPr/>
        </p:nvSpPr>
        <p:spPr>
          <a:xfrm>
            <a:off x="422184" y="1481654"/>
            <a:ext cx="9293316" cy="872034"/>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altLang="zh-CN" b="1" dirty="0"/>
              <a:t>Core Task - Binary Stress Classification</a:t>
            </a:r>
          </a:p>
          <a:p>
            <a:pPr marL="285750" indent="-285750">
              <a:lnSpc>
                <a:spcPct val="150000"/>
              </a:lnSpc>
              <a:buFont typeface="Wingdings" panose="05000000000000000000" pitchFamily="2" charset="2"/>
              <a:buChar char="Ø"/>
            </a:pPr>
            <a:r>
              <a:rPr lang="en-US" altLang="zh-CN" b="1" dirty="0"/>
              <a:t>Objective:</a:t>
            </a:r>
            <a:r>
              <a:rPr lang="en-US" altLang="zh-CN" dirty="0"/>
              <a:t> To classify plant health status into two distinct diagnostic categories.</a:t>
            </a:r>
            <a:endParaRPr lang="zh-CN" altLang="en-US" dirty="0"/>
          </a:p>
        </p:txBody>
      </p:sp>
    </p:spTree>
    <p:extLst>
      <p:ext uri="{BB962C8B-B14F-4D97-AF65-F5344CB8AC3E}">
        <p14:creationId xmlns:p14="http://schemas.microsoft.com/office/powerpoint/2010/main" val="1592368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B2F9E6-538C-7AB3-70BE-1362522DEDF0}"/>
              </a:ext>
            </a:extLst>
          </p:cNvPr>
          <p:cNvSpPr>
            <a:spLocks noGrp="1"/>
          </p:cNvSpPr>
          <p:nvPr>
            <p:ph type="title"/>
          </p:nvPr>
        </p:nvSpPr>
        <p:spPr/>
        <p:txBody>
          <a:bodyPr/>
          <a:lstStyle/>
          <a:p>
            <a:r>
              <a:rPr lang="en-US" altLang="zh-CN" dirty="0"/>
              <a:t>2. </a:t>
            </a:r>
            <a:r>
              <a:rPr lang="en-US" altLang="zh-CN" dirty="0">
                <a:latin typeface="Calibri" panose="020F0502020204030204" pitchFamily="34" charset="0"/>
                <a:ea typeface="Calibri" panose="020F0502020204030204" pitchFamily="34" charset="0"/>
                <a:cs typeface="Calibri" panose="020F0502020204030204" pitchFamily="34" charset="0"/>
              </a:rPr>
              <a:t>Theoretical Analysis - </a:t>
            </a:r>
            <a:r>
              <a:rPr lang="en-US" altLang="zh-CN" dirty="0"/>
              <a:t>Core Architecture</a:t>
            </a:r>
            <a:endParaRPr lang="zh-CN" altLang="en-US" dirty="0"/>
          </a:p>
        </p:txBody>
      </p:sp>
      <p:sp>
        <p:nvSpPr>
          <p:cNvPr id="3" name="内容占位符 2">
            <a:extLst>
              <a:ext uri="{FF2B5EF4-FFF2-40B4-BE49-F238E27FC236}">
                <a16:creationId xmlns:a16="http://schemas.microsoft.com/office/drawing/2014/main" id="{DF44AD5E-CF77-C77B-8317-B3010A2223E7}"/>
              </a:ext>
            </a:extLst>
          </p:cNvPr>
          <p:cNvSpPr>
            <a:spLocks noGrp="1"/>
          </p:cNvSpPr>
          <p:nvPr>
            <p:ph idx="1"/>
          </p:nvPr>
        </p:nvSpPr>
        <p:spPr/>
        <p:txBody>
          <a:bodyPr/>
          <a:lstStyle/>
          <a:p>
            <a:pPr marL="285750" indent="-285750">
              <a:buFont typeface="Wingdings" panose="05000000000000000000" pitchFamily="2" charset="2"/>
              <a:buChar char="Ø"/>
            </a:pPr>
            <a:r>
              <a:rPr lang="en-US" altLang="zh-CN" sz="1800" b="1" dirty="0"/>
              <a:t>Model Backbone</a:t>
            </a:r>
            <a:r>
              <a:rPr lang="en-US" altLang="zh-CN" sz="1800" dirty="0"/>
              <a:t>: </a:t>
            </a:r>
            <a:r>
              <a:rPr lang="en-US" altLang="zh-CN" sz="1800" b="1" dirty="0"/>
              <a:t>MobileNetV2</a:t>
            </a:r>
          </a:p>
          <a:p>
            <a:pPr marL="457200" lvl="1" indent="0">
              <a:buNone/>
            </a:pPr>
            <a:r>
              <a:rPr lang="en-US" altLang="zh-CN" sz="1600" b="1" dirty="0"/>
              <a:t>Efficiency: </a:t>
            </a:r>
            <a:r>
              <a:rPr lang="en-US" altLang="zh-CN" sz="1600" dirty="0"/>
              <a:t>Inverted Residual blocks designed for mobile/edge deployment</a:t>
            </a:r>
          </a:p>
          <a:p>
            <a:pPr marL="457200" lvl="1" indent="0">
              <a:buNone/>
            </a:pPr>
            <a:r>
              <a:rPr lang="en-US" altLang="zh-CN" sz="1600" b="1" dirty="0"/>
              <a:t>Optimization: </a:t>
            </a:r>
            <a:r>
              <a:rPr lang="en-US" altLang="zh-CN" sz="1600" dirty="0"/>
              <a:t>Perfect for real-time agricultural diagnostics.</a:t>
            </a:r>
          </a:p>
          <a:p>
            <a:pPr marL="285750" indent="-285750">
              <a:buFont typeface="Wingdings" panose="05000000000000000000" pitchFamily="2" charset="2"/>
              <a:buChar char="Ø"/>
            </a:pPr>
            <a:r>
              <a:rPr lang="en-US" altLang="zh-CN" sz="1800" b="1" dirty="0"/>
              <a:t>Learning Strategy</a:t>
            </a:r>
            <a:r>
              <a:rPr lang="en-US" altLang="zh-CN" sz="1800" dirty="0"/>
              <a:t>: </a:t>
            </a:r>
            <a:r>
              <a:rPr lang="en-US" altLang="zh-CN" sz="1800" b="1" dirty="0"/>
              <a:t>Transfer Learning</a:t>
            </a:r>
          </a:p>
          <a:p>
            <a:pPr marL="457200" lvl="1" indent="0">
              <a:buNone/>
            </a:pPr>
            <a:r>
              <a:rPr lang="en-US" altLang="zh-CN" sz="1600" b="1" dirty="0"/>
              <a:t>Source: </a:t>
            </a:r>
            <a:r>
              <a:rPr lang="en-US" altLang="zh-CN" sz="1600" dirty="0"/>
              <a:t>Pre-trained weights from ImageNet</a:t>
            </a:r>
          </a:p>
          <a:p>
            <a:pPr marL="457200" lvl="1" indent="0">
              <a:buNone/>
            </a:pPr>
            <a:r>
              <a:rPr lang="en-US" altLang="zh-CN" sz="1600" b="1" dirty="0"/>
              <a:t>Benefit: </a:t>
            </a:r>
            <a:r>
              <a:rPr lang="en-US" altLang="zh-CN" sz="1600" dirty="0"/>
              <a:t>Accelerates convergence and overcomes the scarcity of specialized plant stress data.</a:t>
            </a:r>
          </a:p>
          <a:p>
            <a:pPr>
              <a:buFont typeface="Wingdings" panose="05000000000000000000" pitchFamily="2" charset="2"/>
              <a:buChar char="Ø"/>
            </a:pPr>
            <a:r>
              <a:rPr lang="en-US" altLang="zh-CN" sz="1800" b="1" dirty="0"/>
              <a:t>Development Stack</a:t>
            </a:r>
          </a:p>
          <a:p>
            <a:pPr marL="457200" lvl="1" indent="0">
              <a:buNone/>
            </a:pPr>
            <a:r>
              <a:rPr lang="en-US" altLang="zh-CN" sz="1600" b="1" dirty="0"/>
              <a:t>Core: </a:t>
            </a:r>
            <a:r>
              <a:rPr lang="en-US" altLang="zh-CN" sz="1600" dirty="0"/>
              <a:t>Python 3.10 | </a:t>
            </a:r>
            <a:r>
              <a:rPr lang="en-US" altLang="zh-CN" sz="1600" dirty="0" err="1"/>
              <a:t>PyTorch</a:t>
            </a:r>
            <a:r>
              <a:rPr lang="en-US" altLang="zh-CN" sz="1600" dirty="0"/>
              <a:t> &amp; </a:t>
            </a:r>
            <a:r>
              <a:rPr lang="en-US" altLang="zh-CN" sz="1600" dirty="0" err="1"/>
              <a:t>Torchvision</a:t>
            </a:r>
            <a:endParaRPr lang="en-US" altLang="zh-CN" sz="1600" dirty="0"/>
          </a:p>
          <a:p>
            <a:pPr marL="457200" lvl="1" indent="0">
              <a:buNone/>
            </a:pPr>
            <a:r>
              <a:rPr lang="en-US" altLang="zh-CN" sz="1600" b="1" dirty="0"/>
              <a:t>Processing: </a:t>
            </a:r>
            <a:r>
              <a:rPr lang="en-US" altLang="zh-CN" sz="1600" dirty="0"/>
              <a:t>OpenCV (Vision) &amp; Matplotlib (Analytics)</a:t>
            </a:r>
          </a:p>
          <a:p>
            <a:pPr marL="0" indent="0"/>
            <a:endParaRPr lang="en-US" altLang="zh-CN" sz="1600" dirty="0"/>
          </a:p>
          <a:p>
            <a:pPr>
              <a:buFont typeface="Wingdings" panose="05000000000000000000" pitchFamily="2" charset="2"/>
              <a:buChar char="Ø"/>
            </a:pPr>
            <a:endParaRPr lang="zh-CN" altLang="en-US" sz="1800" b="1" dirty="0"/>
          </a:p>
        </p:txBody>
      </p:sp>
      <p:pic>
        <p:nvPicPr>
          <p:cNvPr id="10" name="图片 9" descr="徽标&#10;&#10;AI 生成的内容可能不正确。">
            <a:extLst>
              <a:ext uri="{FF2B5EF4-FFF2-40B4-BE49-F238E27FC236}">
                <a16:creationId xmlns:a16="http://schemas.microsoft.com/office/drawing/2014/main" id="{6D0FAD54-C4A4-0FA5-ACB5-99A955F031C2}"/>
              </a:ext>
            </a:extLst>
          </p:cNvPr>
          <p:cNvPicPr>
            <a:picLocks noChangeAspect="1"/>
          </p:cNvPicPr>
          <p:nvPr/>
        </p:nvPicPr>
        <p:blipFill>
          <a:blip r:embed="rId3"/>
          <a:stretch>
            <a:fillRect/>
          </a:stretch>
        </p:blipFill>
        <p:spPr>
          <a:xfrm>
            <a:off x="3884956" y="4560570"/>
            <a:ext cx="1950693" cy="760888"/>
          </a:xfrm>
          <a:prstGeom prst="rect">
            <a:avLst/>
          </a:prstGeom>
        </p:spPr>
      </p:pic>
      <p:pic>
        <p:nvPicPr>
          <p:cNvPr id="8" name="图形 7">
            <a:extLst>
              <a:ext uri="{FF2B5EF4-FFF2-40B4-BE49-F238E27FC236}">
                <a16:creationId xmlns:a16="http://schemas.microsoft.com/office/drawing/2014/main" id="{03A58F6F-6098-C9E9-07D7-3F8F1F89DA9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28866" y="4474685"/>
            <a:ext cx="1693546" cy="846773"/>
          </a:xfrm>
          <a:prstGeom prst="rect">
            <a:avLst/>
          </a:prstGeom>
        </p:spPr>
      </p:pic>
    </p:spTree>
    <p:extLst>
      <p:ext uri="{BB962C8B-B14F-4D97-AF65-F5344CB8AC3E}">
        <p14:creationId xmlns:p14="http://schemas.microsoft.com/office/powerpoint/2010/main" val="3770493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05B45B-8B94-0178-BA55-C85EB25EC0EC}"/>
              </a:ext>
            </a:extLst>
          </p:cNvPr>
          <p:cNvSpPr>
            <a:spLocks noGrp="1"/>
          </p:cNvSpPr>
          <p:nvPr>
            <p:ph type="title"/>
          </p:nvPr>
        </p:nvSpPr>
        <p:spPr/>
        <p:txBody>
          <a:bodyPr/>
          <a:lstStyle/>
          <a:p>
            <a:r>
              <a:rPr lang="en-US" altLang="zh-CN" dirty="0"/>
              <a:t>2. Theoretical Foundation: DCNN &amp; Probability Mapping</a:t>
            </a:r>
            <a:endParaRPr lang="zh-CN" altLang="en-US" dirty="0"/>
          </a:p>
        </p:txBody>
      </p:sp>
      <p:pic>
        <p:nvPicPr>
          <p:cNvPr id="5" name="内容占位符 4">
            <a:extLst>
              <a:ext uri="{FF2B5EF4-FFF2-40B4-BE49-F238E27FC236}">
                <a16:creationId xmlns:a16="http://schemas.microsoft.com/office/drawing/2014/main" id="{9E20F9FF-313E-D76D-C3ED-8A1DA7152967}"/>
              </a:ext>
            </a:extLst>
          </p:cNvPr>
          <p:cNvPicPr>
            <a:picLocks noGrp="1" noChangeAspect="1"/>
          </p:cNvPicPr>
          <p:nvPr>
            <p:ph idx="1"/>
          </p:nvPr>
        </p:nvPicPr>
        <p:blipFill>
          <a:blip r:embed="rId3"/>
          <a:srcRect l="51537"/>
          <a:stretch>
            <a:fillRect/>
          </a:stretch>
        </p:blipFill>
        <p:spPr>
          <a:xfrm>
            <a:off x="8496300" y="1886233"/>
            <a:ext cx="3333750" cy="3499456"/>
          </a:xfrm>
        </p:spPr>
      </p:pic>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1D27AA4D-ACDD-D097-B691-56DFCF20C035}"/>
                  </a:ext>
                </a:extLst>
              </p:cNvPr>
              <p:cNvSpPr txBox="1"/>
              <p:nvPr/>
            </p:nvSpPr>
            <p:spPr>
              <a:xfrm>
                <a:off x="361950" y="1555750"/>
                <a:ext cx="7937500" cy="3788858"/>
              </a:xfrm>
              <a:prstGeom prst="rect">
                <a:avLst/>
              </a:prstGeom>
              <a:noFill/>
            </p:spPr>
            <p:txBody>
              <a:bodyPr wrap="square" rtlCol="0">
                <a:spAutoFit/>
              </a:bodyPr>
              <a:lstStyle/>
              <a:p>
                <a:pPr marL="285750" lvl="0" indent="-285750" defTabSz="914400" eaLnBrk="0" fontAlgn="base" hangingPunct="0">
                  <a:lnSpc>
                    <a:spcPct val="150000"/>
                  </a:lnSpc>
                  <a:spcBef>
                    <a:spcPct val="0"/>
                  </a:spcBef>
                  <a:spcAft>
                    <a:spcPct val="0"/>
                  </a:spcAft>
                  <a:buFont typeface="Wingdings" panose="05000000000000000000" pitchFamily="2" charset="2"/>
                  <a:buChar char="Ø"/>
                </a:pPr>
                <a:r>
                  <a:rPr lang="en-US" altLang="zh-CN" b="1" dirty="0"/>
                  <a:t>Architecture Analysis</a:t>
                </a:r>
                <a:endParaRPr lang="en-US" altLang="zh-CN" b="1" dirty="0">
                  <a:latin typeface="Calibri" panose="020F0502020204030204" pitchFamily="34" charset="0"/>
                  <a:cs typeface="Calibri" panose="020F0502020204030204" pitchFamily="34" charset="0"/>
                </a:endParaRPr>
              </a:p>
              <a:p>
                <a:pPr lvl="1" defTabSz="914400" eaLnBrk="0" fontAlgn="base" hangingPunct="0">
                  <a:lnSpc>
                    <a:spcPct val="150000"/>
                  </a:lnSpc>
                  <a:spcBef>
                    <a:spcPct val="0"/>
                  </a:spcBef>
                  <a:spcAft>
                    <a:spcPct val="0"/>
                  </a:spcAft>
                </a:pPr>
                <a:r>
                  <a:rPr lang="zh-CN" altLang="zh-CN" b="1" dirty="0">
                    <a:latin typeface="Calibri" panose="020F0502020204030204" pitchFamily="34" charset="0"/>
                    <a:cs typeface="Calibri" panose="020F0502020204030204" pitchFamily="34" charset="0"/>
                  </a:rPr>
                  <a:t>Input Layer</a:t>
                </a:r>
                <a:r>
                  <a:rPr lang="zh-CN" altLang="zh-CN" dirty="0">
                    <a:latin typeface="Calibri" panose="020F0502020204030204" pitchFamily="34" charset="0"/>
                    <a:ea typeface="Google Sans Text"/>
                    <a:cs typeface="Calibri" panose="020F0502020204030204" pitchFamily="34" charset="0"/>
                  </a:rPr>
                  <a:t>: Represents the raw RGB pixel matrix of a plant leaf.</a:t>
                </a:r>
                <a:endParaRPr lang="en-US" altLang="zh-CN" dirty="0">
                  <a:latin typeface="Calibri" panose="020F0502020204030204" pitchFamily="34" charset="0"/>
                  <a:ea typeface="Google Sans Text"/>
                  <a:cs typeface="Calibri" panose="020F0502020204030204" pitchFamily="34" charset="0"/>
                </a:endParaRPr>
              </a:p>
              <a:p>
                <a:pPr lvl="1" defTabSz="914400" eaLnBrk="0" fontAlgn="base" hangingPunct="0">
                  <a:lnSpc>
                    <a:spcPct val="150000"/>
                  </a:lnSpc>
                  <a:spcBef>
                    <a:spcPct val="0"/>
                  </a:spcBef>
                  <a:spcAft>
                    <a:spcPct val="0"/>
                  </a:spcAft>
                </a:pPr>
                <a:r>
                  <a:rPr lang="zh-CN" altLang="zh-CN" b="1" dirty="0">
                    <a:latin typeface="Calibri" panose="020F0502020204030204" pitchFamily="34" charset="0"/>
                    <a:ea typeface="Google Sans Text"/>
                    <a:cs typeface="Calibri" panose="020F0502020204030204" pitchFamily="34" charset="0"/>
                  </a:rPr>
                  <a:t>Hidden Layers</a:t>
                </a:r>
                <a:r>
                  <a:rPr lang="zh-CN" altLang="zh-CN" dirty="0">
                    <a:latin typeface="Calibri" panose="020F0502020204030204" pitchFamily="34" charset="0"/>
                    <a:ea typeface="Google Sans Text"/>
                    <a:cs typeface="Calibri" panose="020F0502020204030204" pitchFamily="34" charset="0"/>
                  </a:rPr>
                  <a:t>: Perform non-linear feature mapping (</a:t>
                </a:r>
                <a14:m>
                  <m:oMath xmlns:m="http://schemas.openxmlformats.org/officeDocument/2006/math">
                    <m:sSup>
                      <m:sSupPr>
                        <m:ctrlPr>
                          <a:rPr lang="zh-CN" altLang="zh-CN" i="1" dirty="0" smtClean="0">
                            <a:latin typeface="Cambria Math" panose="02040503050406030204" pitchFamily="18" charset="0"/>
                            <a:ea typeface="Google Sans Text"/>
                          </a:rPr>
                        </m:ctrlPr>
                      </m:sSupPr>
                      <m:e>
                        <m:r>
                          <a:rPr lang="zh-CN" altLang="zh-CN" i="1" dirty="0" smtClean="0">
                            <a:latin typeface="Cambria Math" panose="02040503050406030204" pitchFamily="18" charset="0"/>
                            <a:ea typeface="Google Sans Text"/>
                          </a:rPr>
                          <m:t>𝑊</m:t>
                        </m:r>
                      </m:e>
                      <m:sup>
                        <m:r>
                          <a:rPr lang="zh-CN" altLang="zh-CN" i="1" dirty="0" smtClean="0">
                            <a:latin typeface="Cambria Math" panose="02040503050406030204" pitchFamily="18" charset="0"/>
                            <a:ea typeface="Google Sans Text"/>
                          </a:rPr>
                          <m:t>𝑇</m:t>
                        </m:r>
                      </m:sup>
                    </m:sSup>
                    <m:r>
                      <a:rPr lang="zh-CN" altLang="zh-CN" i="1" dirty="0" smtClean="0">
                        <a:latin typeface="Cambria Math" panose="02040503050406030204" pitchFamily="18" charset="0"/>
                        <a:ea typeface="Google Sans Text"/>
                      </a:rPr>
                      <m:t>𝑥</m:t>
                    </m:r>
                    <m:r>
                      <a:rPr lang="zh-CN" altLang="zh-CN" i="1" dirty="0" smtClean="0">
                        <a:latin typeface="Cambria Math" panose="02040503050406030204" pitchFamily="18" charset="0"/>
                        <a:ea typeface="Google Sans Text"/>
                      </a:rPr>
                      <m:t> + </m:t>
                    </m:r>
                    <m:r>
                      <a:rPr lang="zh-CN" altLang="zh-CN" i="1" dirty="0" smtClean="0">
                        <a:latin typeface="Cambria Math" panose="02040503050406030204" pitchFamily="18" charset="0"/>
                        <a:ea typeface="Google Sans Text"/>
                      </a:rPr>
                      <m:t>𝑏</m:t>
                    </m:r>
                  </m:oMath>
                </a14:m>
                <a:r>
                  <a:rPr lang="zh-CN" altLang="zh-CN" dirty="0">
                    <a:latin typeface="Calibri" panose="020F0502020204030204" pitchFamily="34" charset="0"/>
                    <a:ea typeface="Google Sans Text"/>
                    <a:cs typeface="Calibri" panose="020F0502020204030204" pitchFamily="34" charset="0"/>
                  </a:rPr>
                  <a:t>) to identify textural patterns.</a:t>
                </a:r>
              </a:p>
              <a:p>
                <a:pPr lvl="1" defTabSz="914400" eaLnBrk="0" fontAlgn="base" hangingPunct="0">
                  <a:lnSpc>
                    <a:spcPct val="150000"/>
                  </a:lnSpc>
                  <a:spcBef>
                    <a:spcPct val="0"/>
                  </a:spcBef>
                  <a:spcAft>
                    <a:spcPct val="0"/>
                  </a:spcAft>
                </a:pPr>
                <a:r>
                  <a:rPr lang="zh-CN" altLang="zh-CN" b="1" dirty="0">
                    <a:latin typeface="Calibri" panose="020F0502020204030204" pitchFamily="34" charset="0"/>
                    <a:ea typeface="Google Sans Text"/>
                    <a:cs typeface="Calibri" panose="020F0502020204030204" pitchFamily="34" charset="0"/>
                  </a:rPr>
                  <a:t>Output Layer</a:t>
                </a:r>
                <a:r>
                  <a:rPr lang="zh-CN" altLang="zh-CN" dirty="0">
                    <a:latin typeface="Calibri" panose="020F0502020204030204" pitchFamily="34" charset="0"/>
                    <a:ea typeface="Google Sans Text"/>
                    <a:cs typeface="Calibri" panose="020F0502020204030204" pitchFamily="34" charset="0"/>
                  </a:rPr>
                  <a:t>: Maps the deep features to a binary probability distribution using the </a:t>
                </a:r>
                <a:r>
                  <a:rPr lang="zh-CN" altLang="zh-CN" b="1" dirty="0">
                    <a:latin typeface="Calibri" panose="020F0502020204030204" pitchFamily="34" charset="0"/>
                    <a:ea typeface="Google Sans Text"/>
                    <a:cs typeface="Calibri" panose="020F0502020204030204" pitchFamily="34" charset="0"/>
                  </a:rPr>
                  <a:t>Softmax function</a:t>
                </a:r>
                <a:r>
                  <a:rPr lang="zh-CN" altLang="zh-CN" dirty="0">
                    <a:latin typeface="Calibri" panose="020F0502020204030204" pitchFamily="34" charset="0"/>
                    <a:ea typeface="Google Sans Text"/>
                    <a:cs typeface="Calibri" panose="020F0502020204030204" pitchFamily="34" charset="0"/>
                  </a:rPr>
                  <a:t>.</a:t>
                </a:r>
                <a:endParaRPr lang="en-US" altLang="zh-CN" dirty="0">
                  <a:latin typeface="Calibri" panose="020F0502020204030204" pitchFamily="34" charset="0"/>
                  <a:ea typeface="Google Sans Text"/>
                  <a:cs typeface="Calibri" panose="020F0502020204030204" pitchFamily="34" charset="0"/>
                </a:endParaRPr>
              </a:p>
              <a:p>
                <a:pPr marL="285750" indent="-285750" defTabSz="914400" eaLnBrk="0" fontAlgn="base" hangingPunct="0">
                  <a:lnSpc>
                    <a:spcPct val="150000"/>
                  </a:lnSpc>
                  <a:spcBef>
                    <a:spcPct val="0"/>
                  </a:spcBef>
                  <a:spcAft>
                    <a:spcPct val="0"/>
                  </a:spcAft>
                  <a:buFont typeface="Wingdings" panose="05000000000000000000" pitchFamily="2" charset="2"/>
                  <a:buChar char="Ø"/>
                </a:pPr>
                <a:r>
                  <a:rPr lang="en-US" altLang="zh-CN" b="1" dirty="0"/>
                  <a:t>Core Equation (Literature Reference)</a:t>
                </a:r>
              </a:p>
              <a:p>
                <a:pPr marL="285750" indent="-285750" defTabSz="914400" eaLnBrk="0" fontAlgn="base" hangingPunct="0">
                  <a:lnSpc>
                    <a:spcPct val="150000"/>
                  </a:lnSpc>
                  <a:spcBef>
                    <a:spcPct val="0"/>
                  </a:spcBef>
                  <a:spcAft>
                    <a:spcPct val="0"/>
                  </a:spcAft>
                  <a:buFont typeface="Wingdings" panose="05000000000000000000" pitchFamily="2" charset="2"/>
                  <a:buChar char="Ø"/>
                </a:pPr>
                <a:endParaRPr lang="en-US" altLang="zh-CN" b="1" dirty="0"/>
              </a:p>
              <a:p>
                <a:pPr lvl="1" defTabSz="914400" eaLnBrk="0" fontAlgn="base" hangingPunct="0">
                  <a:lnSpc>
                    <a:spcPct val="150000"/>
                  </a:lnSpc>
                  <a:spcBef>
                    <a:spcPct val="0"/>
                  </a:spcBef>
                  <a:spcAft>
                    <a:spcPct val="0"/>
                  </a:spcAft>
                </a:pPr>
                <a:endParaRPr lang="zh-CN" altLang="zh-CN" dirty="0">
                  <a:latin typeface="Calibri" panose="020F0502020204030204" pitchFamily="34" charset="0"/>
                  <a:cs typeface="Calibri" panose="020F0502020204030204" pitchFamily="34" charset="0"/>
                </a:endParaRPr>
              </a:p>
            </p:txBody>
          </p:sp>
        </mc:Choice>
        <mc:Fallback xmlns="">
          <p:sp>
            <p:nvSpPr>
              <p:cNvPr id="12" name="文本框 11">
                <a:extLst>
                  <a:ext uri="{FF2B5EF4-FFF2-40B4-BE49-F238E27FC236}">
                    <a16:creationId xmlns:a16="http://schemas.microsoft.com/office/drawing/2014/main" id="{1D27AA4D-ACDD-D097-B691-56DFCF20C035}"/>
                  </a:ext>
                </a:extLst>
              </p:cNvPr>
              <p:cNvSpPr txBox="1">
                <a:spLocks noRot="1" noChangeAspect="1" noMove="1" noResize="1" noEditPoints="1" noAdjustHandles="1" noChangeArrowheads="1" noChangeShapeType="1" noTextEdit="1"/>
              </p:cNvSpPr>
              <p:nvPr/>
            </p:nvSpPr>
            <p:spPr>
              <a:xfrm>
                <a:off x="361950" y="1555750"/>
                <a:ext cx="7937500" cy="3788858"/>
              </a:xfrm>
              <a:prstGeom prst="rect">
                <a:avLst/>
              </a:prstGeom>
              <a:blipFill>
                <a:blip r:embed="rId4"/>
                <a:stretch>
                  <a:fillRect l="-461"/>
                </a:stretch>
              </a:blipFill>
            </p:spPr>
            <p:txBody>
              <a:bodyPr/>
              <a:lstStyle/>
              <a:p>
                <a:r>
                  <a:rPr lang="zh-CN" altLang="en-US">
                    <a:noFill/>
                  </a:rPr>
                  <a:t> </a:t>
                </a:r>
              </a:p>
            </p:txBody>
          </p:sp>
        </mc:Fallback>
      </mc:AlternateContent>
      <p:pic>
        <p:nvPicPr>
          <p:cNvPr id="16" name="图片 15" descr="文本, 信件&#10;&#10;AI 生成的内容可能不正确。">
            <a:extLst>
              <a:ext uri="{FF2B5EF4-FFF2-40B4-BE49-F238E27FC236}">
                <a16:creationId xmlns:a16="http://schemas.microsoft.com/office/drawing/2014/main" id="{EA183049-BBFB-79F2-5FEB-62D5326C886D}"/>
              </a:ext>
            </a:extLst>
          </p:cNvPr>
          <p:cNvPicPr>
            <a:picLocks noChangeAspect="1"/>
          </p:cNvPicPr>
          <p:nvPr/>
        </p:nvPicPr>
        <p:blipFill>
          <a:blip r:embed="rId5"/>
          <a:stretch>
            <a:fillRect/>
          </a:stretch>
        </p:blipFill>
        <p:spPr>
          <a:xfrm>
            <a:off x="2254249" y="4450214"/>
            <a:ext cx="4746625" cy="894394"/>
          </a:xfrm>
          <a:prstGeom prst="rect">
            <a:avLst/>
          </a:prstGeom>
        </p:spPr>
      </p:pic>
    </p:spTree>
    <p:extLst>
      <p:ext uri="{BB962C8B-B14F-4D97-AF65-F5344CB8AC3E}">
        <p14:creationId xmlns:p14="http://schemas.microsoft.com/office/powerpoint/2010/main" val="3147987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DCD0B-2422-4AFA-A3B1-E84ECBB76626}"/>
              </a:ext>
            </a:extLst>
          </p:cNvPr>
          <p:cNvSpPr>
            <a:spLocks noGrp="1"/>
          </p:cNvSpPr>
          <p:nvPr>
            <p:ph type="title"/>
          </p:nvPr>
        </p:nvSpPr>
        <p:spPr/>
        <p:txBody>
          <a:bodyPr/>
          <a:lstStyle/>
          <a:p>
            <a:r>
              <a:rPr lang="en-US" altLang="zh-CN" dirty="0"/>
              <a:t>2.1 Problem Analysis - The "Resolution Bottleneck"</a:t>
            </a:r>
            <a:endParaRPr lang="en-GB" dirty="0"/>
          </a:p>
        </p:txBody>
      </p:sp>
      <p:grpSp>
        <p:nvGrpSpPr>
          <p:cNvPr id="3" name="组合 2">
            <a:extLst>
              <a:ext uri="{FF2B5EF4-FFF2-40B4-BE49-F238E27FC236}">
                <a16:creationId xmlns:a16="http://schemas.microsoft.com/office/drawing/2014/main" id="{FE36D517-1DCF-6373-ED5A-077EF900AFA4}"/>
              </a:ext>
            </a:extLst>
          </p:cNvPr>
          <p:cNvGrpSpPr/>
          <p:nvPr/>
        </p:nvGrpSpPr>
        <p:grpSpPr>
          <a:xfrm>
            <a:off x="5662790" y="1758848"/>
            <a:ext cx="6904706" cy="3142683"/>
            <a:chOff x="5662790" y="1758848"/>
            <a:chExt cx="6904706" cy="3142683"/>
          </a:xfrm>
        </p:grpSpPr>
        <p:grpSp>
          <p:nvGrpSpPr>
            <p:cNvPr id="37" name="组合 36">
              <a:extLst>
                <a:ext uri="{FF2B5EF4-FFF2-40B4-BE49-F238E27FC236}">
                  <a16:creationId xmlns:a16="http://schemas.microsoft.com/office/drawing/2014/main" id="{82614D3C-C975-0F2C-2930-FF518E1479CF}"/>
                </a:ext>
              </a:extLst>
            </p:cNvPr>
            <p:cNvGrpSpPr/>
            <p:nvPr/>
          </p:nvGrpSpPr>
          <p:grpSpPr>
            <a:xfrm>
              <a:off x="5662790" y="1919477"/>
              <a:ext cx="2483448" cy="2804129"/>
              <a:chOff x="746760" y="1510413"/>
              <a:chExt cx="3034392" cy="3515431"/>
            </a:xfrm>
          </p:grpSpPr>
          <p:grpSp>
            <p:nvGrpSpPr>
              <p:cNvPr id="36" name="组合 35">
                <a:extLst>
                  <a:ext uri="{FF2B5EF4-FFF2-40B4-BE49-F238E27FC236}">
                    <a16:creationId xmlns:a16="http://schemas.microsoft.com/office/drawing/2014/main" id="{93A8252E-8C23-CF6B-B11A-E8B4620BB333}"/>
                  </a:ext>
                </a:extLst>
              </p:cNvPr>
              <p:cNvGrpSpPr/>
              <p:nvPr/>
            </p:nvGrpSpPr>
            <p:grpSpPr>
              <a:xfrm>
                <a:off x="746760" y="1758066"/>
                <a:ext cx="3034392" cy="3267778"/>
                <a:chOff x="746760" y="1758066"/>
                <a:chExt cx="3034392" cy="3267778"/>
              </a:xfrm>
            </p:grpSpPr>
            <p:pic>
              <p:nvPicPr>
                <p:cNvPr id="5" name="图片 4">
                  <a:extLst>
                    <a:ext uri="{FF2B5EF4-FFF2-40B4-BE49-F238E27FC236}">
                      <a16:creationId xmlns:a16="http://schemas.microsoft.com/office/drawing/2014/main" id="{8F98DD78-BAAA-0E7D-0304-DF626DA34715}"/>
                    </a:ext>
                  </a:extLst>
                </p:cNvPr>
                <p:cNvPicPr>
                  <a:picLocks noChangeAspect="1"/>
                </p:cNvPicPr>
                <p:nvPr/>
              </p:nvPicPr>
              <p:blipFill>
                <a:blip r:embed="rId3"/>
                <a:srcRect/>
                <a:stretch/>
              </p:blipFill>
              <p:spPr>
                <a:xfrm>
                  <a:off x="746760" y="2022655"/>
                  <a:ext cx="3034392" cy="3003189"/>
                </a:xfrm>
                <a:prstGeom prst="rect">
                  <a:avLst/>
                </a:prstGeom>
                <a:ln>
                  <a:solidFill>
                    <a:schemeClr val="tx1"/>
                  </a:solidFill>
                  <a:prstDash val="sysDot"/>
                </a:ln>
              </p:spPr>
            </p:pic>
            <p:cxnSp>
              <p:nvCxnSpPr>
                <p:cNvPr id="16" name="直接箭头连接符 15">
                  <a:extLst>
                    <a:ext uri="{FF2B5EF4-FFF2-40B4-BE49-F238E27FC236}">
                      <a16:creationId xmlns:a16="http://schemas.microsoft.com/office/drawing/2014/main" id="{7522B215-00EF-9C48-BCD4-CD19F7B47209}"/>
                    </a:ext>
                  </a:extLst>
                </p:cNvPr>
                <p:cNvCxnSpPr>
                  <a:cxnSpLocks/>
                </p:cNvCxnSpPr>
                <p:nvPr/>
              </p:nvCxnSpPr>
              <p:spPr>
                <a:xfrm>
                  <a:off x="746760" y="1885950"/>
                  <a:ext cx="3034392" cy="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0" name="直接连接符 19">
                  <a:extLst>
                    <a:ext uri="{FF2B5EF4-FFF2-40B4-BE49-F238E27FC236}">
                      <a16:creationId xmlns:a16="http://schemas.microsoft.com/office/drawing/2014/main" id="{787C8E6D-1F22-4E00-9C67-327A2B4F2488}"/>
                    </a:ext>
                  </a:extLst>
                </p:cNvPr>
                <p:cNvCxnSpPr/>
                <p:nvPr/>
              </p:nvCxnSpPr>
              <p:spPr>
                <a:xfrm>
                  <a:off x="746760" y="1766888"/>
                  <a:ext cx="0" cy="255767"/>
                </a:xfrm>
                <a:prstGeom prst="line">
                  <a:avLst/>
                </a:prstGeom>
              </p:spPr>
              <p:style>
                <a:lnRef idx="1">
                  <a:schemeClr val="dk1"/>
                </a:lnRef>
                <a:fillRef idx="0">
                  <a:schemeClr val="dk1"/>
                </a:fillRef>
                <a:effectRef idx="0">
                  <a:schemeClr val="dk1"/>
                </a:effectRef>
                <a:fontRef idx="minor">
                  <a:schemeClr val="tx1"/>
                </a:fontRef>
              </p:style>
            </p:cxnSp>
            <p:cxnSp>
              <p:nvCxnSpPr>
                <p:cNvPr id="21" name="直接连接符 20">
                  <a:extLst>
                    <a:ext uri="{FF2B5EF4-FFF2-40B4-BE49-F238E27FC236}">
                      <a16:creationId xmlns:a16="http://schemas.microsoft.com/office/drawing/2014/main" id="{DD4ABEB4-01D2-5B84-102F-59F8D2340E28}"/>
                    </a:ext>
                  </a:extLst>
                </p:cNvPr>
                <p:cNvCxnSpPr/>
                <p:nvPr/>
              </p:nvCxnSpPr>
              <p:spPr>
                <a:xfrm>
                  <a:off x="3781152" y="1758066"/>
                  <a:ext cx="0" cy="255767"/>
                </a:xfrm>
                <a:prstGeom prst="line">
                  <a:avLst/>
                </a:prstGeom>
              </p:spPr>
              <p:style>
                <a:lnRef idx="1">
                  <a:schemeClr val="dk1"/>
                </a:lnRef>
                <a:fillRef idx="0">
                  <a:schemeClr val="dk1"/>
                </a:fillRef>
                <a:effectRef idx="0">
                  <a:schemeClr val="dk1"/>
                </a:effectRef>
                <a:fontRef idx="minor">
                  <a:schemeClr val="tx1"/>
                </a:fontRef>
              </p:style>
            </p:cxnSp>
          </p:grpSp>
          <p:sp>
            <p:nvSpPr>
              <p:cNvPr id="22" name="文本框 21">
                <a:extLst>
                  <a:ext uri="{FF2B5EF4-FFF2-40B4-BE49-F238E27FC236}">
                    <a16:creationId xmlns:a16="http://schemas.microsoft.com/office/drawing/2014/main" id="{7156167D-6B3A-D482-4A8F-ED424E3D5FD8}"/>
                  </a:ext>
                </a:extLst>
              </p:cNvPr>
              <p:cNvSpPr txBox="1"/>
              <p:nvPr/>
            </p:nvSpPr>
            <p:spPr>
              <a:xfrm>
                <a:off x="1634094" y="1510413"/>
                <a:ext cx="1408878" cy="385848"/>
              </a:xfrm>
              <a:prstGeom prst="rect">
                <a:avLst/>
              </a:prstGeom>
              <a:noFill/>
            </p:spPr>
            <p:txBody>
              <a:bodyPr wrap="square" rtlCol="0">
                <a:spAutoFit/>
              </a:bodyPr>
              <a:lstStyle/>
              <a:p>
                <a:r>
                  <a:rPr lang="en-US" altLang="zh-CN" sz="1400" b="1" dirty="0"/>
                  <a:t>336 pixels</a:t>
                </a:r>
                <a:endParaRPr lang="zh-CN" altLang="en-US" sz="1400" b="1" dirty="0"/>
              </a:p>
            </p:txBody>
          </p:sp>
        </p:grpSp>
        <p:grpSp>
          <p:nvGrpSpPr>
            <p:cNvPr id="35" name="组合 34">
              <a:extLst>
                <a:ext uri="{FF2B5EF4-FFF2-40B4-BE49-F238E27FC236}">
                  <a16:creationId xmlns:a16="http://schemas.microsoft.com/office/drawing/2014/main" id="{C2AE767A-75F2-0F58-FA91-C07618A14A58}"/>
                </a:ext>
              </a:extLst>
            </p:cNvPr>
            <p:cNvGrpSpPr/>
            <p:nvPr/>
          </p:nvGrpSpPr>
          <p:grpSpPr>
            <a:xfrm>
              <a:off x="8672555" y="1758848"/>
              <a:ext cx="3894941" cy="3142683"/>
              <a:chOff x="5006861" y="1437173"/>
              <a:chExt cx="4685216" cy="3767535"/>
            </a:xfrm>
          </p:grpSpPr>
          <p:pic>
            <p:nvPicPr>
              <p:cNvPr id="7" name="图片 6">
                <a:extLst>
                  <a:ext uri="{FF2B5EF4-FFF2-40B4-BE49-F238E27FC236}">
                    <a16:creationId xmlns:a16="http://schemas.microsoft.com/office/drawing/2014/main" id="{B9A329AB-0D3E-E314-9D20-30A03C7355DE}"/>
                  </a:ext>
                </a:extLst>
              </p:cNvPr>
              <p:cNvPicPr>
                <a:picLocks noChangeAspect="1"/>
              </p:cNvPicPr>
              <p:nvPr/>
            </p:nvPicPr>
            <p:blipFill>
              <a:blip r:embed="rId4"/>
              <a:stretch>
                <a:fillRect/>
              </a:stretch>
            </p:blipFill>
            <p:spPr>
              <a:xfrm>
                <a:off x="5006861" y="3672593"/>
                <a:ext cx="1532114" cy="1532114"/>
              </a:xfrm>
              <a:prstGeom prst="rect">
                <a:avLst/>
              </a:prstGeom>
            </p:spPr>
          </p:pic>
          <p:pic>
            <p:nvPicPr>
              <p:cNvPr id="9" name="图片 8">
                <a:extLst>
                  <a:ext uri="{FF2B5EF4-FFF2-40B4-BE49-F238E27FC236}">
                    <a16:creationId xmlns:a16="http://schemas.microsoft.com/office/drawing/2014/main" id="{3CDF6B47-77E7-3072-1137-64704AE67009}"/>
                  </a:ext>
                </a:extLst>
              </p:cNvPr>
              <p:cNvPicPr>
                <a:picLocks noChangeAspect="1"/>
              </p:cNvPicPr>
              <p:nvPr/>
            </p:nvPicPr>
            <p:blipFill>
              <a:blip r:embed="rId5"/>
              <a:stretch>
                <a:fillRect/>
              </a:stretch>
            </p:blipFill>
            <p:spPr>
              <a:xfrm>
                <a:off x="6815542" y="3672593"/>
                <a:ext cx="1532115" cy="1532115"/>
              </a:xfrm>
              <a:prstGeom prst="rect">
                <a:avLst/>
              </a:prstGeom>
            </p:spPr>
          </p:pic>
          <p:pic>
            <p:nvPicPr>
              <p:cNvPr id="11" name="图片 10">
                <a:extLst>
                  <a:ext uri="{FF2B5EF4-FFF2-40B4-BE49-F238E27FC236}">
                    <a16:creationId xmlns:a16="http://schemas.microsoft.com/office/drawing/2014/main" id="{5CBDBA20-FFD7-29F3-4DD0-5800CE3A6379}"/>
                  </a:ext>
                </a:extLst>
              </p:cNvPr>
              <p:cNvPicPr>
                <a:picLocks noChangeAspect="1"/>
              </p:cNvPicPr>
              <p:nvPr/>
            </p:nvPicPr>
            <p:blipFill>
              <a:blip r:embed="rId6"/>
              <a:stretch>
                <a:fillRect/>
              </a:stretch>
            </p:blipFill>
            <p:spPr>
              <a:xfrm>
                <a:off x="5006861" y="1896886"/>
                <a:ext cx="1532114" cy="1532114"/>
              </a:xfrm>
              <a:prstGeom prst="rect">
                <a:avLst/>
              </a:prstGeom>
            </p:spPr>
          </p:pic>
          <p:pic>
            <p:nvPicPr>
              <p:cNvPr id="13" name="图片 12">
                <a:extLst>
                  <a:ext uri="{FF2B5EF4-FFF2-40B4-BE49-F238E27FC236}">
                    <a16:creationId xmlns:a16="http://schemas.microsoft.com/office/drawing/2014/main" id="{32BF813F-0035-BD25-CE32-820269E0BA2B}"/>
                  </a:ext>
                </a:extLst>
              </p:cNvPr>
              <p:cNvPicPr>
                <a:picLocks noChangeAspect="1"/>
              </p:cNvPicPr>
              <p:nvPr/>
            </p:nvPicPr>
            <p:blipFill>
              <a:blip r:embed="rId7"/>
              <a:stretch>
                <a:fillRect/>
              </a:stretch>
            </p:blipFill>
            <p:spPr>
              <a:xfrm>
                <a:off x="6815543" y="1896886"/>
                <a:ext cx="1532115" cy="1532115"/>
              </a:xfrm>
              <a:prstGeom prst="rect">
                <a:avLst/>
              </a:prstGeom>
            </p:spPr>
          </p:pic>
          <p:cxnSp>
            <p:nvCxnSpPr>
              <p:cNvPr id="23" name="直接箭头连接符 22">
                <a:extLst>
                  <a:ext uri="{FF2B5EF4-FFF2-40B4-BE49-F238E27FC236}">
                    <a16:creationId xmlns:a16="http://schemas.microsoft.com/office/drawing/2014/main" id="{0FE237A1-7D5E-1202-8919-CB5B008A3771}"/>
                  </a:ext>
                </a:extLst>
              </p:cNvPr>
              <p:cNvCxnSpPr>
                <a:cxnSpLocks/>
              </p:cNvCxnSpPr>
              <p:nvPr/>
            </p:nvCxnSpPr>
            <p:spPr>
              <a:xfrm flipV="1">
                <a:off x="6815543" y="1800225"/>
                <a:ext cx="1532114" cy="648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4" name="直接连接符 23">
                <a:extLst>
                  <a:ext uri="{FF2B5EF4-FFF2-40B4-BE49-F238E27FC236}">
                    <a16:creationId xmlns:a16="http://schemas.microsoft.com/office/drawing/2014/main" id="{99A2568B-4095-456A-E54F-054F789A3E05}"/>
                  </a:ext>
                </a:extLst>
              </p:cNvPr>
              <p:cNvCxnSpPr>
                <a:cxnSpLocks/>
              </p:cNvCxnSpPr>
              <p:nvPr/>
            </p:nvCxnSpPr>
            <p:spPr>
              <a:xfrm>
                <a:off x="6815543" y="1735931"/>
                <a:ext cx="0" cy="181593"/>
              </a:xfrm>
              <a:prstGeom prst="line">
                <a:avLst/>
              </a:prstGeom>
            </p:spPr>
            <p:style>
              <a:lnRef idx="1">
                <a:schemeClr val="dk1"/>
              </a:lnRef>
              <a:fillRef idx="0">
                <a:schemeClr val="dk1"/>
              </a:fillRef>
              <a:effectRef idx="0">
                <a:schemeClr val="dk1"/>
              </a:effectRef>
              <a:fontRef idx="minor">
                <a:schemeClr val="tx1"/>
              </a:fontRef>
            </p:style>
          </p:cxnSp>
          <p:cxnSp>
            <p:nvCxnSpPr>
              <p:cNvPr id="25" name="直接连接符 24">
                <a:extLst>
                  <a:ext uri="{FF2B5EF4-FFF2-40B4-BE49-F238E27FC236}">
                    <a16:creationId xmlns:a16="http://schemas.microsoft.com/office/drawing/2014/main" id="{BC1FD270-31BE-4866-2119-08A3F3A7B78E}"/>
                  </a:ext>
                </a:extLst>
              </p:cNvPr>
              <p:cNvCxnSpPr>
                <a:cxnSpLocks/>
              </p:cNvCxnSpPr>
              <p:nvPr/>
            </p:nvCxnSpPr>
            <p:spPr>
              <a:xfrm flipH="1">
                <a:off x="8347657" y="1735931"/>
                <a:ext cx="1" cy="199526"/>
              </a:xfrm>
              <a:prstGeom prst="line">
                <a:avLst/>
              </a:prstGeom>
            </p:spPr>
            <p:style>
              <a:lnRef idx="1">
                <a:schemeClr val="dk1"/>
              </a:lnRef>
              <a:fillRef idx="0">
                <a:schemeClr val="dk1"/>
              </a:fillRef>
              <a:effectRef idx="0">
                <a:schemeClr val="dk1"/>
              </a:effectRef>
              <a:fontRef idx="minor">
                <a:schemeClr val="tx1"/>
              </a:fontRef>
            </p:style>
          </p:cxnSp>
          <p:sp>
            <p:nvSpPr>
              <p:cNvPr id="30" name="文本框 29">
                <a:extLst>
                  <a:ext uri="{FF2B5EF4-FFF2-40B4-BE49-F238E27FC236}">
                    <a16:creationId xmlns:a16="http://schemas.microsoft.com/office/drawing/2014/main" id="{FF4FDA29-EF69-6C6E-0D48-6A151F6DACD1}"/>
                  </a:ext>
                </a:extLst>
              </p:cNvPr>
              <p:cNvSpPr txBox="1"/>
              <p:nvPr/>
            </p:nvSpPr>
            <p:spPr>
              <a:xfrm>
                <a:off x="6938053" y="1437173"/>
                <a:ext cx="1391670" cy="368972"/>
              </a:xfrm>
              <a:prstGeom prst="rect">
                <a:avLst/>
              </a:prstGeom>
              <a:noFill/>
            </p:spPr>
            <p:txBody>
              <a:bodyPr wrap="square" rtlCol="0">
                <a:spAutoFit/>
              </a:bodyPr>
              <a:lstStyle/>
              <a:p>
                <a:r>
                  <a:rPr lang="en-US" altLang="zh-CN" sz="1400" b="1" dirty="0"/>
                  <a:t>224 pixels</a:t>
                </a:r>
                <a:endParaRPr lang="zh-CN" altLang="en-US" sz="1400" b="1" dirty="0"/>
              </a:p>
            </p:txBody>
          </p:sp>
          <p:cxnSp>
            <p:nvCxnSpPr>
              <p:cNvPr id="31" name="直接箭头连接符 30">
                <a:extLst>
                  <a:ext uri="{FF2B5EF4-FFF2-40B4-BE49-F238E27FC236}">
                    <a16:creationId xmlns:a16="http://schemas.microsoft.com/office/drawing/2014/main" id="{054739CA-27EA-CA8E-C334-B6D754BA7B03}"/>
                  </a:ext>
                </a:extLst>
              </p:cNvPr>
              <p:cNvCxnSpPr>
                <a:cxnSpLocks/>
              </p:cNvCxnSpPr>
              <p:nvPr/>
            </p:nvCxnSpPr>
            <p:spPr>
              <a:xfrm rot="5400000" flipV="1">
                <a:off x="7672397" y="2666436"/>
                <a:ext cx="1532114" cy="648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2" name="直接连接符 31">
                <a:extLst>
                  <a:ext uri="{FF2B5EF4-FFF2-40B4-BE49-F238E27FC236}">
                    <a16:creationId xmlns:a16="http://schemas.microsoft.com/office/drawing/2014/main" id="{0474E174-87F2-B72E-27CF-13E5019713FA}"/>
                  </a:ext>
                </a:extLst>
              </p:cNvPr>
              <p:cNvCxnSpPr>
                <a:cxnSpLocks/>
              </p:cNvCxnSpPr>
              <p:nvPr/>
            </p:nvCxnSpPr>
            <p:spPr>
              <a:xfrm rot="5400000">
                <a:off x="8438453" y="1809456"/>
                <a:ext cx="0" cy="181593"/>
              </a:xfrm>
              <a:prstGeom prst="line">
                <a:avLst/>
              </a:prstGeom>
            </p:spPr>
            <p:style>
              <a:lnRef idx="1">
                <a:schemeClr val="dk1"/>
              </a:lnRef>
              <a:fillRef idx="0">
                <a:schemeClr val="dk1"/>
              </a:fillRef>
              <a:effectRef idx="0">
                <a:schemeClr val="dk1"/>
              </a:effectRef>
              <a:fontRef idx="minor">
                <a:schemeClr val="tx1"/>
              </a:fontRef>
            </p:style>
          </p:cxnSp>
          <p:cxnSp>
            <p:nvCxnSpPr>
              <p:cNvPr id="33" name="直接连接符 32">
                <a:extLst>
                  <a:ext uri="{FF2B5EF4-FFF2-40B4-BE49-F238E27FC236}">
                    <a16:creationId xmlns:a16="http://schemas.microsoft.com/office/drawing/2014/main" id="{6EDEF17B-8FE4-5384-9CDE-CA3BD743EC83}"/>
                  </a:ext>
                </a:extLst>
              </p:cNvPr>
              <p:cNvCxnSpPr>
                <a:cxnSpLocks/>
              </p:cNvCxnSpPr>
              <p:nvPr/>
            </p:nvCxnSpPr>
            <p:spPr>
              <a:xfrm rot="5400000" flipH="1">
                <a:off x="8429486" y="3329238"/>
                <a:ext cx="1" cy="199526"/>
              </a:xfrm>
              <a:prstGeom prst="line">
                <a:avLst/>
              </a:prstGeom>
            </p:spPr>
            <p:style>
              <a:lnRef idx="1">
                <a:schemeClr val="dk1"/>
              </a:lnRef>
              <a:fillRef idx="0">
                <a:schemeClr val="dk1"/>
              </a:fillRef>
              <a:effectRef idx="0">
                <a:schemeClr val="dk1"/>
              </a:effectRef>
              <a:fontRef idx="minor">
                <a:schemeClr val="tx1"/>
              </a:fontRef>
            </p:style>
          </p:cxnSp>
          <p:sp>
            <p:nvSpPr>
              <p:cNvPr id="34" name="文本框 33">
                <a:extLst>
                  <a:ext uri="{FF2B5EF4-FFF2-40B4-BE49-F238E27FC236}">
                    <a16:creationId xmlns:a16="http://schemas.microsoft.com/office/drawing/2014/main" id="{B77BD258-C46E-AE88-2984-6C99925F88F8}"/>
                  </a:ext>
                </a:extLst>
              </p:cNvPr>
              <p:cNvSpPr txBox="1"/>
              <p:nvPr/>
            </p:nvSpPr>
            <p:spPr>
              <a:xfrm>
                <a:off x="8472878" y="2456280"/>
                <a:ext cx="1219199" cy="627251"/>
              </a:xfrm>
              <a:prstGeom prst="rect">
                <a:avLst/>
              </a:prstGeom>
              <a:noFill/>
            </p:spPr>
            <p:txBody>
              <a:bodyPr wrap="square" rtlCol="0">
                <a:spAutoFit/>
              </a:bodyPr>
              <a:lstStyle/>
              <a:p>
                <a:r>
                  <a:rPr lang="en-US" altLang="zh-CN" sz="1400" b="1" dirty="0"/>
                  <a:t>224 pixels</a:t>
                </a:r>
                <a:endParaRPr lang="zh-CN" altLang="en-US" sz="1400" b="1" dirty="0"/>
              </a:p>
            </p:txBody>
          </p:sp>
        </p:grpSp>
      </p:grp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3C347B22-2226-C814-21EF-88618D1CC3A2}"/>
                  </a:ext>
                </a:extLst>
              </p:cNvPr>
              <p:cNvSpPr txBox="1"/>
              <p:nvPr/>
            </p:nvSpPr>
            <p:spPr>
              <a:xfrm>
                <a:off x="223629" y="1439383"/>
                <a:ext cx="5413237" cy="3739485"/>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zh-CN" altLang="zh-CN" b="1" dirty="0">
                    <a:latin typeface="Calibri" panose="020F0502020204030204" pitchFamily="34" charset="0"/>
                    <a:cs typeface="Calibri" panose="020F0502020204030204" pitchFamily="34" charset="0"/>
                  </a:rPr>
                  <a:t>Adaptive Tiling Strategy</a:t>
                </a:r>
                <a:endParaRPr lang="en-US" altLang="zh-CN" b="1" dirty="0">
                  <a:latin typeface="Calibri" panose="020F0502020204030204" pitchFamily="34" charset="0"/>
                  <a:ea typeface="Calibri" panose="020F0502020204030204" pitchFamily="34" charset="0"/>
                  <a:cs typeface="Calibri" panose="020F0502020204030204" pitchFamily="34" charset="0"/>
                </a:endParaRPr>
              </a:p>
              <a:p>
                <a:pPr lvl="1" defTabSz="914400" eaLnBrk="0" fontAlgn="base" hangingPunct="0">
                  <a:lnSpc>
                    <a:spcPct val="150000"/>
                  </a:lnSpc>
                  <a:spcBef>
                    <a:spcPct val="0"/>
                  </a:spcBef>
                  <a:spcAft>
                    <a:spcPct val="0"/>
                  </a:spcAft>
                </a:pPr>
                <a:r>
                  <a:rPr lang="zh-CN" altLang="zh-CN" sz="1600" b="1" dirty="0"/>
                  <a:t>Scaling Logic:</a:t>
                </a:r>
              </a:p>
              <a:p>
                <a:pPr marL="457200" marR="0" lvl="1" indent="0" algn="l" defTabSz="914400" rtl="0" eaLnBrk="0" fontAlgn="base" latinLnBrk="0" hangingPunct="0">
                  <a:lnSpc>
                    <a:spcPct val="150000"/>
                  </a:lnSpc>
                  <a:spcBef>
                    <a:spcPct val="0"/>
                  </a:spcBef>
                  <a:spcAft>
                    <a:spcPct val="0"/>
                  </a:spcAft>
                  <a:buClrTx/>
                  <a:buSzTx/>
                  <a:tabLst/>
                </a:pPr>
                <a:r>
                  <a:rPr lang="en-US" altLang="zh-CN" sz="1600" dirty="0"/>
                  <a:t>	</a:t>
                </a:r>
                <a:r>
                  <a:rPr lang="zh-CN" altLang="zh-CN" sz="1600" dirty="0"/>
                  <a:t>Resizing the short edge to 336p (Maintains original aspect ratio).</a:t>
                </a:r>
                <a:endParaRPr lang="en-US" altLang="zh-CN" sz="1600" dirty="0"/>
              </a:p>
              <a:p>
                <a:pPr marL="457200" marR="0" lvl="1" indent="0" algn="l" defTabSz="914400" rtl="0" eaLnBrk="0" fontAlgn="base" latinLnBrk="0" hangingPunct="0">
                  <a:lnSpc>
                    <a:spcPct val="150000"/>
                  </a:lnSpc>
                  <a:spcBef>
                    <a:spcPct val="0"/>
                  </a:spcBef>
                  <a:spcAft>
                    <a:spcPct val="0"/>
                  </a:spcAft>
                  <a:buClrTx/>
                  <a:buSzTx/>
                  <a:tabLst/>
                </a:pPr>
                <a:r>
                  <a:rPr lang="en-US" altLang="zh-CN" sz="1600" dirty="0"/>
                  <a:t>	</a:t>
                </a:r>
                <a:r>
                  <a:rPr lang="zh-CN" altLang="zh-CN" sz="1600" dirty="0"/>
                  <a:t>Prevents leaf morphology distortion.</a:t>
                </a:r>
              </a:p>
              <a:p>
                <a:pPr lvl="1" defTabSz="914400" eaLnBrk="0" fontAlgn="base" hangingPunct="0">
                  <a:lnSpc>
                    <a:spcPct val="150000"/>
                  </a:lnSpc>
                  <a:spcBef>
                    <a:spcPct val="0"/>
                  </a:spcBef>
                  <a:spcAft>
                    <a:spcPct val="0"/>
                  </a:spcAft>
                </a:pPr>
                <a:r>
                  <a:rPr lang="zh-CN" altLang="zh-CN" sz="1600" b="1" dirty="0"/>
                  <a:t>Tiling Process:</a:t>
                </a:r>
              </a:p>
              <a:p>
                <a:pPr marL="457200" marR="0" lvl="1" indent="0" algn="l" defTabSz="914400" rtl="0" eaLnBrk="0" fontAlgn="base" latinLnBrk="0" hangingPunct="0">
                  <a:lnSpc>
                    <a:spcPct val="150000"/>
                  </a:lnSpc>
                  <a:spcBef>
                    <a:spcPct val="0"/>
                  </a:spcBef>
                  <a:spcAft>
                    <a:spcPct val="0"/>
                  </a:spcAft>
                  <a:buClrTx/>
                  <a:buSzTx/>
                  <a:tabLst/>
                </a:pPr>
                <a:r>
                  <a:rPr lang="en-US" altLang="zh-CN" sz="1600" dirty="0"/>
                  <a:t>	</a:t>
                </a:r>
                <a:r>
                  <a:rPr lang="zh-CN" altLang="zh-CN" sz="1600" dirty="0"/>
                  <a:t>Sliding window of </a:t>
                </a:r>
                <a14:m>
                  <m:oMath xmlns:m="http://schemas.openxmlformats.org/officeDocument/2006/math">
                    <m:r>
                      <a:rPr lang="zh-CN" altLang="zh-CN" sz="1600" i="1" dirty="0" smtClean="0">
                        <a:latin typeface="Cambria Math" panose="02040503050406030204" pitchFamily="18" charset="0"/>
                      </a:rPr>
                      <m:t>224 ×224</m:t>
                    </m:r>
                  </m:oMath>
                </a14:m>
                <a:r>
                  <a:rPr lang="zh-CN" altLang="zh-CN" sz="1600" dirty="0"/>
                  <a:t>.</a:t>
                </a:r>
              </a:p>
              <a:p>
                <a:pPr marL="457200" marR="0" lvl="1" indent="0" algn="l" defTabSz="914400" rtl="0" eaLnBrk="0" fontAlgn="base" latinLnBrk="0" hangingPunct="0">
                  <a:lnSpc>
                    <a:spcPct val="150000"/>
                  </a:lnSpc>
                  <a:spcBef>
                    <a:spcPct val="0"/>
                  </a:spcBef>
                  <a:spcAft>
                    <a:spcPct val="0"/>
                  </a:spcAft>
                  <a:buClrTx/>
                  <a:buSzTx/>
                  <a:tabLst/>
                </a:pPr>
                <a:r>
                  <a:rPr lang="en-US" altLang="zh-CN" sz="1600" dirty="0"/>
                  <a:t>	</a:t>
                </a:r>
                <a:r>
                  <a:rPr lang="zh-CN" altLang="zh-CN" sz="1600" dirty="0"/>
                  <a:t>50% Overlap Rate: Ensures no features are lost between tiles.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mc:Choice>
        <mc:Fallback xmlns="">
          <p:sp>
            <p:nvSpPr>
              <p:cNvPr id="40" name="文本框 39">
                <a:extLst>
                  <a:ext uri="{FF2B5EF4-FFF2-40B4-BE49-F238E27FC236}">
                    <a16:creationId xmlns:a16="http://schemas.microsoft.com/office/drawing/2014/main" id="{3C347B22-2226-C814-21EF-88618D1CC3A2}"/>
                  </a:ext>
                </a:extLst>
              </p:cNvPr>
              <p:cNvSpPr txBox="1">
                <a:spLocks noRot="1" noChangeAspect="1" noMove="1" noResize="1" noEditPoints="1" noAdjustHandles="1" noChangeArrowheads="1" noChangeShapeType="1" noTextEdit="1"/>
              </p:cNvSpPr>
              <p:nvPr/>
            </p:nvSpPr>
            <p:spPr>
              <a:xfrm>
                <a:off x="223629" y="1439383"/>
                <a:ext cx="5413237" cy="3739485"/>
              </a:xfrm>
              <a:prstGeom prst="rect">
                <a:avLst/>
              </a:prstGeom>
              <a:blipFill>
                <a:blip r:embed="rId8"/>
                <a:stretch>
                  <a:fillRect l="-7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15654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7C0C86-1BDC-26CF-21FC-2528EA4B33CB}"/>
              </a:ext>
            </a:extLst>
          </p:cNvPr>
          <p:cNvSpPr>
            <a:spLocks noGrp="1"/>
          </p:cNvSpPr>
          <p:nvPr>
            <p:ph type="title"/>
          </p:nvPr>
        </p:nvSpPr>
        <p:spPr>
          <a:xfrm>
            <a:off x="441960" y="136526"/>
            <a:ext cx="11262360" cy="880744"/>
          </a:xfrm>
        </p:spPr>
        <p:txBody>
          <a:bodyPr/>
          <a:lstStyle/>
          <a:p>
            <a:r>
              <a:rPr lang="en-US" altLang="zh-CN" dirty="0"/>
              <a:t>2.2 MobileNetV2 Pipeline</a:t>
            </a:r>
            <a:endParaRPr lang="zh-CN" altLang="en-US" dirty="0"/>
          </a:p>
        </p:txBody>
      </p:sp>
      <p:grpSp>
        <p:nvGrpSpPr>
          <p:cNvPr id="121" name="组合 120">
            <a:extLst>
              <a:ext uri="{FF2B5EF4-FFF2-40B4-BE49-F238E27FC236}">
                <a16:creationId xmlns:a16="http://schemas.microsoft.com/office/drawing/2014/main" id="{AC1E19B6-3055-4E4E-0D57-584E4247AA46}"/>
              </a:ext>
            </a:extLst>
          </p:cNvPr>
          <p:cNvGrpSpPr/>
          <p:nvPr/>
        </p:nvGrpSpPr>
        <p:grpSpPr>
          <a:xfrm>
            <a:off x="817880" y="2086520"/>
            <a:ext cx="10556239" cy="3515696"/>
            <a:chOff x="1280160" y="2616598"/>
            <a:chExt cx="10556239" cy="3515696"/>
          </a:xfrm>
        </p:grpSpPr>
        <p:grpSp>
          <p:nvGrpSpPr>
            <p:cNvPr id="13" name="组合 12">
              <a:extLst>
                <a:ext uri="{FF2B5EF4-FFF2-40B4-BE49-F238E27FC236}">
                  <a16:creationId xmlns:a16="http://schemas.microsoft.com/office/drawing/2014/main" id="{B87D2EA7-F7D8-7EB7-43AA-E58B384C4801}"/>
                </a:ext>
              </a:extLst>
            </p:cNvPr>
            <p:cNvGrpSpPr/>
            <p:nvPr/>
          </p:nvGrpSpPr>
          <p:grpSpPr>
            <a:xfrm>
              <a:off x="1648818" y="3196047"/>
              <a:ext cx="719695" cy="2629151"/>
              <a:chOff x="1301750" y="2247900"/>
              <a:chExt cx="1136650" cy="3028950"/>
            </a:xfrm>
          </p:grpSpPr>
          <p:sp>
            <p:nvSpPr>
              <p:cNvPr id="4" name="立方体 3">
                <a:extLst>
                  <a:ext uri="{FF2B5EF4-FFF2-40B4-BE49-F238E27FC236}">
                    <a16:creationId xmlns:a16="http://schemas.microsoft.com/office/drawing/2014/main" id="{C8843127-AE29-D779-F35B-779FC05B27F1}"/>
                  </a:ext>
                </a:extLst>
              </p:cNvPr>
              <p:cNvSpPr/>
              <p:nvPr/>
            </p:nvSpPr>
            <p:spPr>
              <a:xfrm>
                <a:off x="1301750" y="2247900"/>
                <a:ext cx="1136650" cy="3028950"/>
              </a:xfrm>
              <a:prstGeom prst="cube">
                <a:avLst>
                  <a:gd name="adj" fmla="val 9064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sz="2400"/>
              </a:p>
            </p:txBody>
          </p:sp>
          <p:sp>
            <p:nvSpPr>
              <p:cNvPr id="5" name="立方体 4">
                <a:extLst>
                  <a:ext uri="{FF2B5EF4-FFF2-40B4-BE49-F238E27FC236}">
                    <a16:creationId xmlns:a16="http://schemas.microsoft.com/office/drawing/2014/main" id="{3B88F503-A0F4-780E-B756-5C95F020E690}"/>
                  </a:ext>
                </a:extLst>
              </p:cNvPr>
              <p:cNvSpPr/>
              <p:nvPr/>
            </p:nvSpPr>
            <p:spPr>
              <a:xfrm>
                <a:off x="1765300" y="3177859"/>
                <a:ext cx="400050" cy="1051241"/>
              </a:xfrm>
              <a:prstGeom prst="cube">
                <a:avLst>
                  <a:gd name="adj" fmla="val 79860"/>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sz="2400" dirty="0"/>
              </a:p>
            </p:txBody>
          </p:sp>
        </p:grpSp>
        <p:grpSp>
          <p:nvGrpSpPr>
            <p:cNvPr id="14" name="组合 13">
              <a:extLst>
                <a:ext uri="{FF2B5EF4-FFF2-40B4-BE49-F238E27FC236}">
                  <a16:creationId xmlns:a16="http://schemas.microsoft.com/office/drawing/2014/main" id="{708E5C57-5441-D125-1292-19F98A078DC4}"/>
                </a:ext>
              </a:extLst>
            </p:cNvPr>
            <p:cNvGrpSpPr/>
            <p:nvPr/>
          </p:nvGrpSpPr>
          <p:grpSpPr>
            <a:xfrm>
              <a:off x="2819117" y="3486267"/>
              <a:ext cx="482477" cy="1885052"/>
              <a:chOff x="3086100" y="2540000"/>
              <a:chExt cx="762000" cy="2171700"/>
            </a:xfrm>
          </p:grpSpPr>
          <p:sp>
            <p:nvSpPr>
              <p:cNvPr id="6" name="立方体 5">
                <a:extLst>
                  <a:ext uri="{FF2B5EF4-FFF2-40B4-BE49-F238E27FC236}">
                    <a16:creationId xmlns:a16="http://schemas.microsoft.com/office/drawing/2014/main" id="{D3B6BCFB-306E-80A5-1689-6AB9A26E1E83}"/>
                  </a:ext>
                </a:extLst>
              </p:cNvPr>
              <p:cNvSpPr/>
              <p:nvPr/>
            </p:nvSpPr>
            <p:spPr>
              <a:xfrm>
                <a:off x="3086100" y="2540000"/>
                <a:ext cx="762000" cy="2171700"/>
              </a:xfrm>
              <a:prstGeom prst="cube">
                <a:avLst>
                  <a:gd name="adj" fmla="val 74812"/>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sz="2400"/>
              </a:p>
            </p:txBody>
          </p:sp>
          <p:sp>
            <p:nvSpPr>
              <p:cNvPr id="7" name="立方体 6">
                <a:extLst>
                  <a:ext uri="{FF2B5EF4-FFF2-40B4-BE49-F238E27FC236}">
                    <a16:creationId xmlns:a16="http://schemas.microsoft.com/office/drawing/2014/main" id="{40119E60-EE48-8A9E-C270-E8664A7D32CD}"/>
                  </a:ext>
                </a:extLst>
              </p:cNvPr>
              <p:cNvSpPr/>
              <p:nvPr/>
            </p:nvSpPr>
            <p:spPr>
              <a:xfrm>
                <a:off x="3454400" y="3306253"/>
                <a:ext cx="393700" cy="639194"/>
              </a:xfrm>
              <a:prstGeom prst="cube">
                <a:avLst>
                  <a:gd name="adj" fmla="val 48287"/>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sz="2400" dirty="0"/>
              </a:p>
            </p:txBody>
          </p:sp>
        </p:grpSp>
        <p:grpSp>
          <p:nvGrpSpPr>
            <p:cNvPr id="15" name="组合 14">
              <a:extLst>
                <a:ext uri="{FF2B5EF4-FFF2-40B4-BE49-F238E27FC236}">
                  <a16:creationId xmlns:a16="http://schemas.microsoft.com/office/drawing/2014/main" id="{6D44B9FD-1424-8172-8808-612EC3E487E7}"/>
                </a:ext>
              </a:extLst>
            </p:cNvPr>
            <p:cNvGrpSpPr/>
            <p:nvPr/>
          </p:nvGrpSpPr>
          <p:grpSpPr>
            <a:xfrm>
              <a:off x="3695482" y="3859731"/>
              <a:ext cx="820211" cy="1097826"/>
              <a:chOff x="4648199" y="3000278"/>
              <a:chExt cx="1295399" cy="1264766"/>
            </a:xfrm>
          </p:grpSpPr>
          <p:sp>
            <p:nvSpPr>
              <p:cNvPr id="9" name="立方体 8">
                <a:extLst>
                  <a:ext uri="{FF2B5EF4-FFF2-40B4-BE49-F238E27FC236}">
                    <a16:creationId xmlns:a16="http://schemas.microsoft.com/office/drawing/2014/main" id="{D499E4F6-DFD0-A051-1A45-697B04E8D49F}"/>
                  </a:ext>
                </a:extLst>
              </p:cNvPr>
              <p:cNvSpPr/>
              <p:nvPr/>
            </p:nvSpPr>
            <p:spPr>
              <a:xfrm>
                <a:off x="4927599" y="3506119"/>
                <a:ext cx="736601" cy="394719"/>
              </a:xfrm>
              <a:prstGeom prst="cube">
                <a:avLst>
                  <a:gd name="adj" fmla="val 25311"/>
                </a:avLst>
              </a:prstGeom>
              <a:solidFill>
                <a:schemeClr val="accent5">
                  <a:lumMod val="40000"/>
                  <a:lumOff val="60000"/>
                  <a:alpha val="89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sz="2400" dirty="0"/>
              </a:p>
            </p:txBody>
          </p:sp>
          <p:sp>
            <p:nvSpPr>
              <p:cNvPr id="8" name="立方体 7">
                <a:extLst>
                  <a:ext uri="{FF2B5EF4-FFF2-40B4-BE49-F238E27FC236}">
                    <a16:creationId xmlns:a16="http://schemas.microsoft.com/office/drawing/2014/main" id="{337868AE-839A-2D58-FCB1-4705C7F6FE27}"/>
                  </a:ext>
                </a:extLst>
              </p:cNvPr>
              <p:cNvSpPr/>
              <p:nvPr/>
            </p:nvSpPr>
            <p:spPr>
              <a:xfrm>
                <a:off x="4648199" y="3000278"/>
                <a:ext cx="1295399" cy="1264766"/>
              </a:xfrm>
              <a:prstGeom prst="cube">
                <a:avLst>
                  <a:gd name="adj" fmla="val 35190"/>
                </a:avLst>
              </a:prstGeom>
              <a:solidFill>
                <a:schemeClr val="accent6">
                  <a:lumMod val="75000"/>
                  <a:alpha val="45000"/>
                </a:schemeClr>
              </a:solidFill>
              <a:ln>
                <a:solidFill>
                  <a:schemeClr val="accent6"/>
                </a:solidFill>
              </a:ln>
              <a:scene3d>
                <a:camera prst="orthographicFront"/>
                <a:lightRig rig="threePt" dir="t"/>
              </a:scene3d>
              <a:sp3d prstMaterial="legacyWireframe"/>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sz="2400" dirty="0"/>
              </a:p>
            </p:txBody>
          </p:sp>
        </p:grpSp>
        <p:grpSp>
          <p:nvGrpSpPr>
            <p:cNvPr id="18" name="组合 17">
              <a:extLst>
                <a:ext uri="{FF2B5EF4-FFF2-40B4-BE49-F238E27FC236}">
                  <a16:creationId xmlns:a16="http://schemas.microsoft.com/office/drawing/2014/main" id="{E71E5D0C-F916-575A-23A9-5E0175EAEB1D}"/>
                </a:ext>
              </a:extLst>
            </p:cNvPr>
            <p:cNvGrpSpPr/>
            <p:nvPr/>
          </p:nvGrpSpPr>
          <p:grpSpPr>
            <a:xfrm>
              <a:off x="4730711" y="4144762"/>
              <a:ext cx="977016" cy="663944"/>
              <a:chOff x="5553073" y="2970347"/>
              <a:chExt cx="1543050" cy="764906"/>
            </a:xfrm>
          </p:grpSpPr>
          <p:sp>
            <p:nvSpPr>
              <p:cNvPr id="11" name="立方体 10">
                <a:extLst>
                  <a:ext uri="{FF2B5EF4-FFF2-40B4-BE49-F238E27FC236}">
                    <a16:creationId xmlns:a16="http://schemas.microsoft.com/office/drawing/2014/main" id="{CC508FAE-DEB1-D580-7F3A-24DEF022EA66}"/>
                  </a:ext>
                </a:extLst>
              </p:cNvPr>
              <p:cNvSpPr/>
              <p:nvPr/>
            </p:nvSpPr>
            <p:spPr>
              <a:xfrm>
                <a:off x="5632448" y="3237735"/>
                <a:ext cx="1384301" cy="308215"/>
              </a:xfrm>
              <a:prstGeom prst="cube">
                <a:avLst>
                  <a:gd name="adj" fmla="val 25311"/>
                </a:avLst>
              </a:prstGeom>
              <a:solidFill>
                <a:schemeClr val="accent5">
                  <a:lumMod val="40000"/>
                  <a:lumOff val="60000"/>
                  <a:alpha val="89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sz="2400" dirty="0"/>
              </a:p>
            </p:txBody>
          </p:sp>
          <p:sp>
            <p:nvSpPr>
              <p:cNvPr id="12" name="立方体 11">
                <a:extLst>
                  <a:ext uri="{FF2B5EF4-FFF2-40B4-BE49-F238E27FC236}">
                    <a16:creationId xmlns:a16="http://schemas.microsoft.com/office/drawing/2014/main" id="{8BB53B8F-F21D-F998-A732-6B981350E155}"/>
                  </a:ext>
                </a:extLst>
              </p:cNvPr>
              <p:cNvSpPr/>
              <p:nvPr/>
            </p:nvSpPr>
            <p:spPr>
              <a:xfrm>
                <a:off x="5553073" y="2970347"/>
                <a:ext cx="1543050" cy="764906"/>
              </a:xfrm>
              <a:prstGeom prst="cube">
                <a:avLst>
                  <a:gd name="adj" fmla="val 27718"/>
                </a:avLst>
              </a:prstGeom>
              <a:solidFill>
                <a:schemeClr val="accent6">
                  <a:lumMod val="75000"/>
                  <a:alpha val="45000"/>
                </a:schemeClr>
              </a:solidFill>
              <a:ln>
                <a:solidFill>
                  <a:schemeClr val="accent6"/>
                </a:solidFill>
              </a:ln>
              <a:scene3d>
                <a:camera prst="orthographicFront"/>
                <a:lightRig rig="threePt" dir="t"/>
              </a:scene3d>
              <a:sp3d prstMaterial="legacyWireframe"/>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sz="2400" dirty="0"/>
              </a:p>
            </p:txBody>
          </p:sp>
        </p:grpSp>
        <p:grpSp>
          <p:nvGrpSpPr>
            <p:cNvPr id="20" name="组合 19">
              <a:extLst>
                <a:ext uri="{FF2B5EF4-FFF2-40B4-BE49-F238E27FC236}">
                  <a16:creationId xmlns:a16="http://schemas.microsoft.com/office/drawing/2014/main" id="{5A6A8934-5073-074A-9459-4B24919A4934}"/>
                </a:ext>
              </a:extLst>
            </p:cNvPr>
            <p:cNvGrpSpPr/>
            <p:nvPr/>
          </p:nvGrpSpPr>
          <p:grpSpPr>
            <a:xfrm>
              <a:off x="5866762" y="4212600"/>
              <a:ext cx="1133822" cy="537404"/>
              <a:chOff x="6844113" y="3133700"/>
              <a:chExt cx="1790700" cy="619125"/>
            </a:xfrm>
          </p:grpSpPr>
          <p:sp>
            <p:nvSpPr>
              <p:cNvPr id="16" name="立方体 15">
                <a:extLst>
                  <a:ext uri="{FF2B5EF4-FFF2-40B4-BE49-F238E27FC236}">
                    <a16:creationId xmlns:a16="http://schemas.microsoft.com/office/drawing/2014/main" id="{651766AC-0FD5-6848-D832-9A634A54B478}"/>
                  </a:ext>
                </a:extLst>
              </p:cNvPr>
              <p:cNvSpPr/>
              <p:nvPr/>
            </p:nvSpPr>
            <p:spPr>
              <a:xfrm>
                <a:off x="6931826" y="3302458"/>
                <a:ext cx="1615274" cy="304301"/>
              </a:xfrm>
              <a:prstGeom prst="cube">
                <a:avLst>
                  <a:gd name="adj" fmla="val 33658"/>
                </a:avLst>
              </a:prstGeom>
              <a:solidFill>
                <a:schemeClr val="accent5">
                  <a:lumMod val="40000"/>
                  <a:lumOff val="60000"/>
                  <a:alpha val="89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sz="2400" dirty="0"/>
              </a:p>
            </p:txBody>
          </p:sp>
          <p:sp>
            <p:nvSpPr>
              <p:cNvPr id="17" name="立方体 16">
                <a:extLst>
                  <a:ext uri="{FF2B5EF4-FFF2-40B4-BE49-F238E27FC236}">
                    <a16:creationId xmlns:a16="http://schemas.microsoft.com/office/drawing/2014/main" id="{8DB7FEF8-F8A1-6B87-11C6-2C2D74FA0DE1}"/>
                  </a:ext>
                </a:extLst>
              </p:cNvPr>
              <p:cNvSpPr/>
              <p:nvPr/>
            </p:nvSpPr>
            <p:spPr>
              <a:xfrm>
                <a:off x="6844113" y="3133700"/>
                <a:ext cx="1790700" cy="619125"/>
              </a:xfrm>
              <a:prstGeom prst="cube">
                <a:avLst>
                  <a:gd name="adj" fmla="val 27718"/>
                </a:avLst>
              </a:prstGeom>
              <a:solidFill>
                <a:schemeClr val="accent6">
                  <a:lumMod val="75000"/>
                  <a:alpha val="45000"/>
                </a:schemeClr>
              </a:solidFill>
              <a:ln>
                <a:solidFill>
                  <a:schemeClr val="accent6"/>
                </a:solidFill>
              </a:ln>
              <a:scene3d>
                <a:camera prst="orthographicFront"/>
                <a:lightRig rig="threePt" dir="t"/>
              </a:scene3d>
              <a:sp3d prstMaterial="legacyWireframe"/>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sz="2400" dirty="0"/>
              </a:p>
            </p:txBody>
          </p:sp>
        </p:grpSp>
        <p:sp>
          <p:nvSpPr>
            <p:cNvPr id="19" name="立方体 18">
              <a:extLst>
                <a:ext uri="{FF2B5EF4-FFF2-40B4-BE49-F238E27FC236}">
                  <a16:creationId xmlns:a16="http://schemas.microsoft.com/office/drawing/2014/main" id="{94E89F7C-4FD8-3953-FBFE-C809032722B8}"/>
                </a:ext>
              </a:extLst>
            </p:cNvPr>
            <p:cNvSpPr/>
            <p:nvPr/>
          </p:nvSpPr>
          <p:spPr>
            <a:xfrm>
              <a:off x="7308002" y="4167086"/>
              <a:ext cx="446291" cy="545887"/>
            </a:xfrm>
            <a:prstGeom prst="cube">
              <a:avLst>
                <a:gd name="adj" fmla="val 35771"/>
              </a:avLst>
            </a:prstGeom>
            <a:solidFill>
              <a:schemeClr val="accent6">
                <a:lumMod val="40000"/>
                <a:lumOff val="60000"/>
              </a:schemeClr>
            </a:solidFill>
            <a:ln>
              <a:solidFill>
                <a:schemeClr val="accent6"/>
              </a:solidFill>
            </a:ln>
            <a:scene3d>
              <a:camera prst="orthographicFront"/>
              <a:lightRig rig="threePt" dir="t"/>
            </a:scene3d>
            <a:sp3d prstMaterial="legacyWireframe"/>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sz="2400" dirty="0"/>
            </a:p>
          </p:txBody>
        </p:sp>
        <p:sp>
          <p:nvSpPr>
            <p:cNvPr id="21" name="矩形 20">
              <a:extLst>
                <a:ext uri="{FF2B5EF4-FFF2-40B4-BE49-F238E27FC236}">
                  <a16:creationId xmlns:a16="http://schemas.microsoft.com/office/drawing/2014/main" id="{4215161A-40A0-47EB-9359-3F46D3BB1DF7}"/>
                </a:ext>
              </a:extLst>
            </p:cNvPr>
            <p:cNvSpPr/>
            <p:nvPr/>
          </p:nvSpPr>
          <p:spPr>
            <a:xfrm>
              <a:off x="8241083" y="3201373"/>
              <a:ext cx="251214" cy="2378755"/>
            </a:xfrm>
            <a:prstGeom prst="rect">
              <a:avLst/>
            </a:prstGeom>
            <a:gradFill>
              <a:gsLst>
                <a:gs pos="92000">
                  <a:srgbClr val="A9CE97"/>
                </a:gs>
                <a:gs pos="94000">
                  <a:schemeClr val="accent6">
                    <a:lumMod val="105000"/>
                    <a:satMod val="103000"/>
                    <a:tint val="73000"/>
                  </a:schemeClr>
                </a:gs>
                <a:gs pos="100000">
                  <a:schemeClr val="accent6">
                    <a:lumMod val="105000"/>
                    <a:satMod val="109000"/>
                    <a:tint val="81000"/>
                  </a:schemeClr>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sz="2400"/>
            </a:p>
          </p:txBody>
        </p:sp>
        <p:sp>
          <p:nvSpPr>
            <p:cNvPr id="22" name="矩形 21">
              <a:extLst>
                <a:ext uri="{FF2B5EF4-FFF2-40B4-BE49-F238E27FC236}">
                  <a16:creationId xmlns:a16="http://schemas.microsoft.com/office/drawing/2014/main" id="{70DCA147-8B6D-B172-2592-17A45513F036}"/>
                </a:ext>
              </a:extLst>
            </p:cNvPr>
            <p:cNvSpPr/>
            <p:nvPr/>
          </p:nvSpPr>
          <p:spPr>
            <a:xfrm>
              <a:off x="9890606" y="3716101"/>
              <a:ext cx="251214" cy="1494471"/>
            </a:xfrm>
            <a:prstGeom prst="rect">
              <a:avLst/>
            </a:prstGeom>
            <a:gradFill>
              <a:gsLst>
                <a:gs pos="92000">
                  <a:srgbClr val="A9CE97"/>
                </a:gs>
                <a:gs pos="94000">
                  <a:schemeClr val="accent6">
                    <a:lumMod val="105000"/>
                    <a:satMod val="103000"/>
                    <a:tint val="73000"/>
                  </a:schemeClr>
                </a:gs>
                <a:gs pos="100000">
                  <a:schemeClr val="accent6">
                    <a:lumMod val="105000"/>
                    <a:satMod val="109000"/>
                    <a:tint val="81000"/>
                  </a:schemeClr>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sz="2400"/>
            </a:p>
          </p:txBody>
        </p:sp>
        <p:sp>
          <p:nvSpPr>
            <p:cNvPr id="23" name="矩形 22">
              <a:extLst>
                <a:ext uri="{FF2B5EF4-FFF2-40B4-BE49-F238E27FC236}">
                  <a16:creationId xmlns:a16="http://schemas.microsoft.com/office/drawing/2014/main" id="{E380A287-4648-10AF-A967-5EF1B64DBC59}"/>
                </a:ext>
              </a:extLst>
            </p:cNvPr>
            <p:cNvSpPr/>
            <p:nvPr/>
          </p:nvSpPr>
          <p:spPr>
            <a:xfrm>
              <a:off x="10787501" y="3716101"/>
              <a:ext cx="251214" cy="1490826"/>
            </a:xfrm>
            <a:prstGeom prst="rect">
              <a:avLst/>
            </a:prstGeom>
            <a:gradFill>
              <a:gsLst>
                <a:gs pos="92000">
                  <a:srgbClr val="A9CE97"/>
                </a:gs>
                <a:gs pos="94000">
                  <a:schemeClr val="accent6">
                    <a:lumMod val="105000"/>
                    <a:satMod val="103000"/>
                    <a:tint val="73000"/>
                  </a:schemeClr>
                </a:gs>
                <a:gs pos="100000">
                  <a:schemeClr val="accent6">
                    <a:lumMod val="105000"/>
                    <a:satMod val="109000"/>
                    <a:tint val="81000"/>
                  </a:schemeClr>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sz="2400"/>
            </a:p>
          </p:txBody>
        </p:sp>
        <p:sp>
          <p:nvSpPr>
            <p:cNvPr id="24" name="矩形 23">
              <a:extLst>
                <a:ext uri="{FF2B5EF4-FFF2-40B4-BE49-F238E27FC236}">
                  <a16:creationId xmlns:a16="http://schemas.microsoft.com/office/drawing/2014/main" id="{0739381A-A4BE-E2F6-F771-FD79648825C9}"/>
                </a:ext>
              </a:extLst>
            </p:cNvPr>
            <p:cNvSpPr/>
            <p:nvPr/>
          </p:nvSpPr>
          <p:spPr>
            <a:xfrm>
              <a:off x="9054888" y="3182827"/>
              <a:ext cx="251214" cy="2378755"/>
            </a:xfrm>
            <a:prstGeom prst="rect">
              <a:avLst/>
            </a:prstGeom>
            <a:gradFill>
              <a:gsLst>
                <a:gs pos="92000">
                  <a:srgbClr val="A9CE97"/>
                </a:gs>
                <a:gs pos="94000">
                  <a:schemeClr val="accent6">
                    <a:lumMod val="105000"/>
                    <a:satMod val="103000"/>
                    <a:tint val="73000"/>
                  </a:schemeClr>
                </a:gs>
                <a:gs pos="100000">
                  <a:schemeClr val="accent6">
                    <a:lumMod val="105000"/>
                    <a:satMod val="109000"/>
                    <a:tint val="81000"/>
                  </a:schemeClr>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sz="2400"/>
            </a:p>
          </p:txBody>
        </p:sp>
        <p:sp>
          <p:nvSpPr>
            <p:cNvPr id="26" name="文本框 25">
              <a:extLst>
                <a:ext uri="{FF2B5EF4-FFF2-40B4-BE49-F238E27FC236}">
                  <a16:creationId xmlns:a16="http://schemas.microsoft.com/office/drawing/2014/main" id="{7C4BBC4B-86E4-71F5-382C-7079CF89E4CC}"/>
                </a:ext>
              </a:extLst>
            </p:cNvPr>
            <p:cNvSpPr txBox="1"/>
            <p:nvPr/>
          </p:nvSpPr>
          <p:spPr>
            <a:xfrm>
              <a:off x="1558322" y="2846140"/>
              <a:ext cx="1148416" cy="338554"/>
            </a:xfrm>
            <a:prstGeom prst="rect">
              <a:avLst/>
            </a:prstGeom>
            <a:noFill/>
          </p:spPr>
          <p:txBody>
            <a:bodyPr wrap="square">
              <a:spAutoFit/>
            </a:bodyPr>
            <a:lstStyle/>
            <a:p>
              <a:r>
                <a:rPr lang="en-US" altLang="zh-CN" sz="1600" b="1" dirty="0">
                  <a:latin typeface="Calibri" panose="020F0502020204030204" pitchFamily="34" charset="0"/>
                  <a:ea typeface="Calibri" panose="020F0502020204030204" pitchFamily="34" charset="0"/>
                  <a:cs typeface="Calibri" panose="020F0502020204030204" pitchFamily="34" charset="0"/>
                </a:rPr>
                <a:t>Input Tile</a:t>
              </a:r>
            </a:p>
          </p:txBody>
        </p:sp>
        <p:sp>
          <p:nvSpPr>
            <p:cNvPr id="29" name="文本框 28">
              <a:extLst>
                <a:ext uri="{FF2B5EF4-FFF2-40B4-BE49-F238E27FC236}">
                  <a16:creationId xmlns:a16="http://schemas.microsoft.com/office/drawing/2014/main" id="{1342DB55-0348-5B04-2459-779206C21333}"/>
                </a:ext>
              </a:extLst>
            </p:cNvPr>
            <p:cNvSpPr txBox="1"/>
            <p:nvPr/>
          </p:nvSpPr>
          <p:spPr>
            <a:xfrm>
              <a:off x="2811924" y="2723030"/>
              <a:ext cx="1148416" cy="584775"/>
            </a:xfrm>
            <a:prstGeom prst="rect">
              <a:avLst/>
            </a:prstGeom>
            <a:noFill/>
          </p:spPr>
          <p:txBody>
            <a:bodyPr wrap="square">
              <a:spAutoFit/>
            </a:bodyPr>
            <a:lstStyle/>
            <a:p>
              <a:r>
                <a:rPr lang="en-US" altLang="zh-CN" sz="1600" b="1" dirty="0">
                  <a:latin typeface="Calibri" panose="020F0502020204030204" pitchFamily="34" charset="0"/>
                  <a:ea typeface="Calibri" panose="020F0502020204030204" pitchFamily="34" charset="0"/>
                  <a:cs typeface="Calibri" panose="020F0502020204030204" pitchFamily="34" charset="0"/>
                </a:rPr>
                <a:t>Block 1 (Conv)</a:t>
              </a:r>
            </a:p>
          </p:txBody>
        </p:sp>
        <p:sp>
          <p:nvSpPr>
            <p:cNvPr id="30" name="文本框 29">
              <a:extLst>
                <a:ext uri="{FF2B5EF4-FFF2-40B4-BE49-F238E27FC236}">
                  <a16:creationId xmlns:a16="http://schemas.microsoft.com/office/drawing/2014/main" id="{F7D059EB-BAEE-A277-05A4-17106884C647}"/>
                </a:ext>
              </a:extLst>
            </p:cNvPr>
            <p:cNvSpPr txBox="1"/>
            <p:nvPr/>
          </p:nvSpPr>
          <p:spPr>
            <a:xfrm>
              <a:off x="3772425" y="2721164"/>
              <a:ext cx="1148416" cy="584775"/>
            </a:xfrm>
            <a:prstGeom prst="rect">
              <a:avLst/>
            </a:prstGeom>
            <a:noFill/>
          </p:spPr>
          <p:txBody>
            <a:bodyPr wrap="square">
              <a:spAutoFit/>
            </a:bodyPr>
            <a:lstStyle/>
            <a:p>
              <a:r>
                <a:rPr lang="en-US" altLang="zh-CN" sz="1600" b="1" dirty="0">
                  <a:latin typeface="Calibri" panose="020F0502020204030204" pitchFamily="34" charset="0"/>
                  <a:ea typeface="Calibri" panose="020F0502020204030204" pitchFamily="34" charset="0"/>
                  <a:cs typeface="Calibri" panose="020F0502020204030204" pitchFamily="34" charset="0"/>
                </a:rPr>
                <a:t>Block 2 (</a:t>
              </a:r>
              <a:r>
                <a:rPr lang="en-US" altLang="zh-CN" sz="1600" b="1" dirty="0" err="1">
                  <a:latin typeface="Calibri" panose="020F0502020204030204" pitchFamily="34" charset="0"/>
                  <a:ea typeface="Calibri" panose="020F0502020204030204" pitchFamily="34" charset="0"/>
                  <a:cs typeface="Calibri" panose="020F0502020204030204" pitchFamily="34" charset="0"/>
                </a:rPr>
                <a:t>InvRes</a:t>
              </a:r>
              <a:r>
                <a:rPr lang="en-US" altLang="zh-CN" sz="1600" b="1" dirty="0">
                  <a:latin typeface="Calibri" panose="020F0502020204030204" pitchFamily="34" charset="0"/>
                  <a:ea typeface="Calibri" panose="020F0502020204030204" pitchFamily="34" charset="0"/>
                  <a:cs typeface="Calibri" panose="020F0502020204030204" pitchFamily="34" charset="0"/>
                </a:rPr>
                <a:t>)</a:t>
              </a:r>
            </a:p>
          </p:txBody>
        </p:sp>
        <p:sp>
          <p:nvSpPr>
            <p:cNvPr id="31" name="文本框 30">
              <a:extLst>
                <a:ext uri="{FF2B5EF4-FFF2-40B4-BE49-F238E27FC236}">
                  <a16:creationId xmlns:a16="http://schemas.microsoft.com/office/drawing/2014/main" id="{568009F2-265C-25DE-B29D-878B09689852}"/>
                </a:ext>
              </a:extLst>
            </p:cNvPr>
            <p:cNvSpPr txBox="1"/>
            <p:nvPr/>
          </p:nvSpPr>
          <p:spPr>
            <a:xfrm>
              <a:off x="4859230" y="2723030"/>
              <a:ext cx="897202" cy="584775"/>
            </a:xfrm>
            <a:prstGeom prst="rect">
              <a:avLst/>
            </a:prstGeom>
            <a:noFill/>
          </p:spPr>
          <p:txBody>
            <a:bodyPr wrap="square">
              <a:spAutoFit/>
            </a:bodyPr>
            <a:lstStyle/>
            <a:p>
              <a:r>
                <a:rPr lang="en-US" altLang="zh-CN" sz="1600" b="1" dirty="0">
                  <a:latin typeface="Calibri" panose="020F0502020204030204" pitchFamily="34" charset="0"/>
                  <a:ea typeface="Calibri" panose="020F0502020204030204" pitchFamily="34" charset="0"/>
                  <a:cs typeface="Calibri" panose="020F0502020204030204" pitchFamily="34" charset="0"/>
                </a:rPr>
                <a:t>Block 3 (</a:t>
              </a:r>
              <a:r>
                <a:rPr lang="en-US" altLang="zh-CN" sz="1600" b="1" dirty="0" err="1">
                  <a:latin typeface="Calibri" panose="020F0502020204030204" pitchFamily="34" charset="0"/>
                  <a:ea typeface="Calibri" panose="020F0502020204030204" pitchFamily="34" charset="0"/>
                  <a:cs typeface="Calibri" panose="020F0502020204030204" pitchFamily="34" charset="0"/>
                </a:rPr>
                <a:t>InvRes</a:t>
              </a:r>
              <a:r>
                <a:rPr lang="en-US" altLang="zh-CN" sz="1600" b="1" dirty="0">
                  <a:latin typeface="Calibri" panose="020F0502020204030204" pitchFamily="34" charset="0"/>
                  <a:ea typeface="Calibri" panose="020F0502020204030204" pitchFamily="34" charset="0"/>
                  <a:cs typeface="Calibri" panose="020F0502020204030204" pitchFamily="34" charset="0"/>
                </a:rPr>
                <a:t>)</a:t>
              </a:r>
            </a:p>
          </p:txBody>
        </p:sp>
        <p:sp>
          <p:nvSpPr>
            <p:cNvPr id="32" name="文本框 31">
              <a:extLst>
                <a:ext uri="{FF2B5EF4-FFF2-40B4-BE49-F238E27FC236}">
                  <a16:creationId xmlns:a16="http://schemas.microsoft.com/office/drawing/2014/main" id="{60038FD1-A2E9-2F51-37B4-F308C718BB77}"/>
                </a:ext>
              </a:extLst>
            </p:cNvPr>
            <p:cNvSpPr txBox="1"/>
            <p:nvPr/>
          </p:nvSpPr>
          <p:spPr>
            <a:xfrm>
              <a:off x="7031030" y="2690914"/>
              <a:ext cx="1148416" cy="584775"/>
            </a:xfrm>
            <a:prstGeom prst="rect">
              <a:avLst/>
            </a:prstGeom>
            <a:noFill/>
          </p:spPr>
          <p:txBody>
            <a:bodyPr wrap="square">
              <a:spAutoFit/>
            </a:bodyPr>
            <a:lstStyle/>
            <a:p>
              <a:r>
                <a:rPr lang="en-US" altLang="zh-CN" sz="1600" b="1" dirty="0">
                  <a:latin typeface="Calibri" panose="020F0502020204030204" pitchFamily="34" charset="0"/>
                  <a:ea typeface="Calibri" panose="020F0502020204030204" pitchFamily="34" charset="0"/>
                  <a:cs typeface="Calibri" panose="020F0502020204030204" pitchFamily="34" charset="0"/>
                </a:rPr>
                <a:t>Block 5 (</a:t>
              </a:r>
              <a:r>
                <a:rPr lang="en-US" altLang="zh-CN" sz="1600" b="1" dirty="0" err="1">
                  <a:latin typeface="Calibri" panose="020F0502020204030204" pitchFamily="34" charset="0"/>
                  <a:ea typeface="Calibri" panose="020F0502020204030204" pitchFamily="34" charset="0"/>
                  <a:cs typeface="Calibri" panose="020F0502020204030204" pitchFamily="34" charset="0"/>
                </a:rPr>
                <a:t>InvRes</a:t>
              </a:r>
              <a:r>
                <a:rPr lang="en-US" altLang="zh-CN" sz="1600" b="1" dirty="0">
                  <a:latin typeface="Calibri" panose="020F0502020204030204" pitchFamily="34" charset="0"/>
                  <a:ea typeface="Calibri" panose="020F0502020204030204" pitchFamily="34" charset="0"/>
                  <a:cs typeface="Calibri" panose="020F0502020204030204" pitchFamily="34" charset="0"/>
                </a:rPr>
                <a:t>)</a:t>
              </a:r>
            </a:p>
          </p:txBody>
        </p:sp>
        <p:sp>
          <p:nvSpPr>
            <p:cNvPr id="33" name="文本框 32">
              <a:extLst>
                <a:ext uri="{FF2B5EF4-FFF2-40B4-BE49-F238E27FC236}">
                  <a16:creationId xmlns:a16="http://schemas.microsoft.com/office/drawing/2014/main" id="{B8B9BAF2-CE78-A866-CBCA-EAAEB8A33B73}"/>
                </a:ext>
              </a:extLst>
            </p:cNvPr>
            <p:cNvSpPr txBox="1"/>
            <p:nvPr/>
          </p:nvSpPr>
          <p:spPr>
            <a:xfrm>
              <a:off x="8048936" y="2616598"/>
              <a:ext cx="719694" cy="584775"/>
            </a:xfrm>
            <a:prstGeom prst="rect">
              <a:avLst/>
            </a:prstGeom>
            <a:noFill/>
          </p:spPr>
          <p:txBody>
            <a:bodyPr wrap="square">
              <a:spAutoFit/>
            </a:bodyPr>
            <a:lstStyle/>
            <a:p>
              <a:r>
                <a:rPr lang="en-US" altLang="zh-CN" sz="1600" b="1" dirty="0">
                  <a:latin typeface="Calibri" panose="020F0502020204030204" pitchFamily="34" charset="0"/>
                  <a:ea typeface="Calibri" panose="020F0502020204030204" pitchFamily="34" charset="0"/>
                  <a:cs typeface="Calibri" panose="020F0502020204030204" pitchFamily="34" charset="0"/>
                </a:rPr>
                <a:t>Avg Pool</a:t>
              </a:r>
            </a:p>
          </p:txBody>
        </p:sp>
        <p:sp>
          <p:nvSpPr>
            <p:cNvPr id="34" name="文本框 33">
              <a:extLst>
                <a:ext uri="{FF2B5EF4-FFF2-40B4-BE49-F238E27FC236}">
                  <a16:creationId xmlns:a16="http://schemas.microsoft.com/office/drawing/2014/main" id="{4546F33C-47EE-0AEF-95F5-773B22247817}"/>
                </a:ext>
              </a:extLst>
            </p:cNvPr>
            <p:cNvSpPr txBox="1"/>
            <p:nvPr/>
          </p:nvSpPr>
          <p:spPr>
            <a:xfrm>
              <a:off x="5913493" y="2721163"/>
              <a:ext cx="1148416" cy="584775"/>
            </a:xfrm>
            <a:prstGeom prst="rect">
              <a:avLst/>
            </a:prstGeom>
            <a:noFill/>
          </p:spPr>
          <p:txBody>
            <a:bodyPr wrap="square">
              <a:spAutoFit/>
            </a:bodyPr>
            <a:lstStyle/>
            <a:p>
              <a:r>
                <a:rPr lang="en-US" altLang="zh-CN" sz="1600" b="1" dirty="0">
                  <a:latin typeface="Calibri" panose="020F0502020204030204" pitchFamily="34" charset="0"/>
                  <a:ea typeface="Calibri" panose="020F0502020204030204" pitchFamily="34" charset="0"/>
                  <a:cs typeface="Calibri" panose="020F0502020204030204" pitchFamily="34" charset="0"/>
                </a:rPr>
                <a:t>Block 4 (</a:t>
              </a:r>
              <a:r>
                <a:rPr lang="en-US" altLang="zh-CN" sz="1600" b="1" dirty="0" err="1">
                  <a:latin typeface="Calibri" panose="020F0502020204030204" pitchFamily="34" charset="0"/>
                  <a:ea typeface="Calibri" panose="020F0502020204030204" pitchFamily="34" charset="0"/>
                  <a:cs typeface="Calibri" panose="020F0502020204030204" pitchFamily="34" charset="0"/>
                </a:rPr>
                <a:t>InvRes</a:t>
              </a:r>
              <a:r>
                <a:rPr lang="en-US" altLang="zh-CN" sz="1600" b="1" dirty="0">
                  <a:latin typeface="Calibri" panose="020F0502020204030204" pitchFamily="34" charset="0"/>
                  <a:ea typeface="Calibri" panose="020F0502020204030204" pitchFamily="34" charset="0"/>
                  <a:cs typeface="Calibri" panose="020F0502020204030204" pitchFamily="34" charset="0"/>
                </a:rPr>
                <a:t>)</a:t>
              </a:r>
            </a:p>
          </p:txBody>
        </p:sp>
        <p:sp>
          <p:nvSpPr>
            <p:cNvPr id="35" name="文本框 34">
              <a:extLst>
                <a:ext uri="{FF2B5EF4-FFF2-40B4-BE49-F238E27FC236}">
                  <a16:creationId xmlns:a16="http://schemas.microsoft.com/office/drawing/2014/main" id="{AE4719C0-EE28-5944-0356-8A1ED7EF42C3}"/>
                </a:ext>
              </a:extLst>
            </p:cNvPr>
            <p:cNvSpPr txBox="1"/>
            <p:nvPr/>
          </p:nvSpPr>
          <p:spPr>
            <a:xfrm>
              <a:off x="9518900" y="3045124"/>
              <a:ext cx="994626" cy="338554"/>
            </a:xfrm>
            <a:prstGeom prst="rect">
              <a:avLst/>
            </a:prstGeom>
            <a:noFill/>
          </p:spPr>
          <p:txBody>
            <a:bodyPr wrap="square">
              <a:spAutoFit/>
            </a:bodyPr>
            <a:lstStyle/>
            <a:p>
              <a:r>
                <a:rPr lang="en-US" altLang="zh-CN" sz="1600" b="1" dirty="0">
                  <a:latin typeface="Calibri" panose="020F0502020204030204" pitchFamily="34" charset="0"/>
                  <a:ea typeface="Calibri" panose="020F0502020204030204" pitchFamily="34" charset="0"/>
                  <a:cs typeface="Calibri" panose="020F0502020204030204" pitchFamily="34" charset="0"/>
                </a:rPr>
                <a:t>Classifier</a:t>
              </a:r>
            </a:p>
          </p:txBody>
        </p:sp>
        <p:sp>
          <p:nvSpPr>
            <p:cNvPr id="36" name="文本框 35">
              <a:extLst>
                <a:ext uri="{FF2B5EF4-FFF2-40B4-BE49-F238E27FC236}">
                  <a16:creationId xmlns:a16="http://schemas.microsoft.com/office/drawing/2014/main" id="{7C764FF3-D5A0-54D2-81C8-13279B1D2060}"/>
                </a:ext>
              </a:extLst>
            </p:cNvPr>
            <p:cNvSpPr txBox="1"/>
            <p:nvPr/>
          </p:nvSpPr>
          <p:spPr>
            <a:xfrm>
              <a:off x="1280160" y="5793740"/>
              <a:ext cx="834390" cy="338554"/>
            </a:xfrm>
            <a:prstGeom prst="rect">
              <a:avLst/>
            </a:prstGeom>
            <a:noFill/>
          </p:spPr>
          <p:txBody>
            <a:bodyPr wrap="square">
              <a:spAutoFit/>
            </a:bodyPr>
            <a:lstStyle/>
            <a:p>
              <a:r>
                <a:rPr lang="en-US" altLang="zh-CN" sz="1600" b="1" dirty="0">
                  <a:latin typeface="Calibri" panose="020F0502020204030204" pitchFamily="34" charset="0"/>
                  <a:ea typeface="Calibri" panose="020F0502020204030204" pitchFamily="34" charset="0"/>
                  <a:cs typeface="Calibri" panose="020F0502020204030204" pitchFamily="34" charset="0"/>
                </a:rPr>
                <a:t>224</a:t>
              </a:r>
              <a:r>
                <a:rPr lang="en-US" altLang="zh-CN" sz="1600" b="1" baseline="30000" dirty="0">
                  <a:latin typeface="Calibri" panose="020F0502020204030204" pitchFamily="34" charset="0"/>
                  <a:ea typeface="Calibri" panose="020F0502020204030204" pitchFamily="34" charset="0"/>
                  <a:cs typeface="Calibri" panose="020F0502020204030204" pitchFamily="34" charset="0"/>
                </a:rPr>
                <a:t>2 </a:t>
              </a:r>
              <a:r>
                <a:rPr lang="en-US" altLang="zh-CN" sz="1600" b="1" dirty="0">
                  <a:latin typeface="Calibri" panose="020F0502020204030204" pitchFamily="34" charset="0"/>
                  <a:ea typeface="Calibri" panose="020F0502020204030204" pitchFamily="34" charset="0"/>
                  <a:cs typeface="Calibri" panose="020F0502020204030204" pitchFamily="34" charset="0"/>
                </a:rPr>
                <a:t>x 3</a:t>
              </a:r>
              <a:endParaRPr lang="en-US" altLang="zh-CN" sz="1600" b="1" baseline="30000" dirty="0">
                <a:latin typeface="Calibri" panose="020F0502020204030204" pitchFamily="34" charset="0"/>
                <a:ea typeface="Calibri" panose="020F0502020204030204" pitchFamily="34" charset="0"/>
                <a:cs typeface="Calibri" panose="020F0502020204030204" pitchFamily="34" charset="0"/>
              </a:endParaRPr>
            </a:p>
          </p:txBody>
        </p:sp>
        <p:sp>
          <p:nvSpPr>
            <p:cNvPr id="37" name="文本框 36">
              <a:extLst>
                <a:ext uri="{FF2B5EF4-FFF2-40B4-BE49-F238E27FC236}">
                  <a16:creationId xmlns:a16="http://schemas.microsoft.com/office/drawing/2014/main" id="{AA8590D5-AE48-BDF0-59F0-D13C18BDDAFA}"/>
                </a:ext>
              </a:extLst>
            </p:cNvPr>
            <p:cNvSpPr txBox="1"/>
            <p:nvPr/>
          </p:nvSpPr>
          <p:spPr>
            <a:xfrm>
              <a:off x="2483208" y="5793740"/>
              <a:ext cx="964842" cy="338554"/>
            </a:xfrm>
            <a:prstGeom prst="rect">
              <a:avLst/>
            </a:prstGeom>
            <a:noFill/>
          </p:spPr>
          <p:txBody>
            <a:bodyPr wrap="square">
              <a:spAutoFit/>
            </a:bodyPr>
            <a:lstStyle/>
            <a:p>
              <a:r>
                <a:rPr lang="en-US" altLang="zh-CN" sz="1600" b="1" dirty="0">
                  <a:latin typeface="Calibri" panose="020F0502020204030204" pitchFamily="34" charset="0"/>
                  <a:ea typeface="Calibri" panose="020F0502020204030204" pitchFamily="34" charset="0"/>
                  <a:cs typeface="Calibri" panose="020F0502020204030204" pitchFamily="34" charset="0"/>
                </a:rPr>
                <a:t>112</a:t>
              </a:r>
              <a:r>
                <a:rPr lang="en-US" altLang="zh-CN" sz="1600" b="1" baseline="30000" dirty="0">
                  <a:latin typeface="Calibri" panose="020F0502020204030204" pitchFamily="34" charset="0"/>
                  <a:ea typeface="Calibri" panose="020F0502020204030204" pitchFamily="34" charset="0"/>
                  <a:cs typeface="Calibri" panose="020F0502020204030204" pitchFamily="34" charset="0"/>
                </a:rPr>
                <a:t>2 </a:t>
              </a:r>
              <a:r>
                <a:rPr lang="en-US" altLang="zh-CN" sz="1600" b="1" dirty="0">
                  <a:latin typeface="Calibri" panose="020F0502020204030204" pitchFamily="34" charset="0"/>
                  <a:ea typeface="Calibri" panose="020F0502020204030204" pitchFamily="34" charset="0"/>
                  <a:cs typeface="Calibri" panose="020F0502020204030204" pitchFamily="34" charset="0"/>
                </a:rPr>
                <a:t>x 32</a:t>
              </a:r>
              <a:endParaRPr lang="en-US" altLang="zh-CN" sz="1600" b="1" baseline="30000" dirty="0">
                <a:latin typeface="Calibri" panose="020F0502020204030204" pitchFamily="34" charset="0"/>
                <a:ea typeface="Calibri" panose="020F0502020204030204" pitchFamily="34" charset="0"/>
                <a:cs typeface="Calibri" panose="020F0502020204030204" pitchFamily="34" charset="0"/>
              </a:endParaRPr>
            </a:p>
          </p:txBody>
        </p:sp>
        <p:sp>
          <p:nvSpPr>
            <p:cNvPr id="38" name="文本框 37">
              <a:extLst>
                <a:ext uri="{FF2B5EF4-FFF2-40B4-BE49-F238E27FC236}">
                  <a16:creationId xmlns:a16="http://schemas.microsoft.com/office/drawing/2014/main" id="{9F14EA84-E8FE-7F8D-322D-42FB1F6BEFBC}"/>
                </a:ext>
              </a:extLst>
            </p:cNvPr>
            <p:cNvSpPr txBox="1"/>
            <p:nvPr/>
          </p:nvSpPr>
          <p:spPr>
            <a:xfrm>
              <a:off x="8677913" y="2730700"/>
              <a:ext cx="897202" cy="338554"/>
            </a:xfrm>
            <a:prstGeom prst="rect">
              <a:avLst/>
            </a:prstGeom>
            <a:noFill/>
          </p:spPr>
          <p:txBody>
            <a:bodyPr wrap="square">
              <a:spAutoFit/>
            </a:bodyPr>
            <a:lstStyle/>
            <a:p>
              <a:r>
                <a:rPr lang="en-US" altLang="zh-CN" sz="1600" b="1" dirty="0">
                  <a:latin typeface="Calibri" panose="020F0502020204030204" pitchFamily="34" charset="0"/>
                  <a:ea typeface="Calibri" panose="020F0502020204030204" pitchFamily="34" charset="0"/>
                  <a:cs typeface="Calibri" panose="020F0502020204030204" pitchFamily="34" charset="0"/>
                </a:rPr>
                <a:t>FC Layer</a:t>
              </a:r>
            </a:p>
          </p:txBody>
        </p:sp>
        <p:sp>
          <p:nvSpPr>
            <p:cNvPr id="39" name="文本框 38">
              <a:extLst>
                <a:ext uri="{FF2B5EF4-FFF2-40B4-BE49-F238E27FC236}">
                  <a16:creationId xmlns:a16="http://schemas.microsoft.com/office/drawing/2014/main" id="{6F6219E1-A256-399D-F275-6C4FF15B4B28}"/>
                </a:ext>
              </a:extLst>
            </p:cNvPr>
            <p:cNvSpPr txBox="1"/>
            <p:nvPr/>
          </p:nvSpPr>
          <p:spPr>
            <a:xfrm>
              <a:off x="10415242" y="3050602"/>
              <a:ext cx="1124594" cy="338554"/>
            </a:xfrm>
            <a:prstGeom prst="rect">
              <a:avLst/>
            </a:prstGeom>
            <a:noFill/>
          </p:spPr>
          <p:txBody>
            <a:bodyPr wrap="square">
              <a:spAutoFit/>
            </a:bodyPr>
            <a:lstStyle/>
            <a:p>
              <a:r>
                <a:rPr lang="en-US" altLang="zh-CN" sz="1600" b="1" dirty="0">
                  <a:latin typeface="Calibri" panose="020F0502020204030204" pitchFamily="34" charset="0"/>
                  <a:ea typeface="Calibri" panose="020F0502020204030204" pitchFamily="34" charset="0"/>
                  <a:cs typeface="Calibri" panose="020F0502020204030204" pitchFamily="34" charset="0"/>
                </a:rPr>
                <a:t>Decision</a:t>
              </a:r>
            </a:p>
          </p:txBody>
        </p:sp>
        <p:sp>
          <p:nvSpPr>
            <p:cNvPr id="40" name="文本框 39">
              <a:extLst>
                <a:ext uri="{FF2B5EF4-FFF2-40B4-BE49-F238E27FC236}">
                  <a16:creationId xmlns:a16="http://schemas.microsoft.com/office/drawing/2014/main" id="{76F33B31-A04B-2200-A35F-57DA26252E53}"/>
                </a:ext>
              </a:extLst>
            </p:cNvPr>
            <p:cNvSpPr txBox="1"/>
            <p:nvPr/>
          </p:nvSpPr>
          <p:spPr>
            <a:xfrm>
              <a:off x="3600450" y="5793740"/>
              <a:ext cx="915243" cy="338554"/>
            </a:xfrm>
            <a:prstGeom prst="rect">
              <a:avLst/>
            </a:prstGeom>
            <a:noFill/>
          </p:spPr>
          <p:txBody>
            <a:bodyPr wrap="square">
              <a:spAutoFit/>
            </a:bodyPr>
            <a:lstStyle/>
            <a:p>
              <a:r>
                <a:rPr lang="en-US" altLang="zh-CN" sz="1600" b="1" dirty="0">
                  <a:latin typeface="Calibri" panose="020F0502020204030204" pitchFamily="34" charset="0"/>
                  <a:ea typeface="Calibri" panose="020F0502020204030204" pitchFamily="34" charset="0"/>
                  <a:cs typeface="Calibri" panose="020F0502020204030204" pitchFamily="34" charset="0"/>
                </a:rPr>
                <a:t>56</a:t>
              </a:r>
              <a:r>
                <a:rPr lang="en-US" altLang="zh-CN" sz="1600" b="1" baseline="30000" dirty="0">
                  <a:latin typeface="Calibri" panose="020F0502020204030204" pitchFamily="34" charset="0"/>
                  <a:ea typeface="Calibri" panose="020F0502020204030204" pitchFamily="34" charset="0"/>
                  <a:cs typeface="Calibri" panose="020F0502020204030204" pitchFamily="34" charset="0"/>
                </a:rPr>
                <a:t>2 </a:t>
              </a:r>
              <a:r>
                <a:rPr lang="en-US" altLang="zh-CN" sz="1600" b="1" dirty="0">
                  <a:latin typeface="Calibri" panose="020F0502020204030204" pitchFamily="34" charset="0"/>
                  <a:ea typeface="Calibri" panose="020F0502020204030204" pitchFamily="34" charset="0"/>
                  <a:cs typeface="Calibri" panose="020F0502020204030204" pitchFamily="34" charset="0"/>
                </a:rPr>
                <a:t>x 64</a:t>
              </a:r>
              <a:endParaRPr lang="en-US" altLang="zh-CN" sz="1600" b="1" baseline="30000" dirty="0">
                <a:latin typeface="Calibri" panose="020F0502020204030204" pitchFamily="34" charset="0"/>
                <a:ea typeface="Calibri" panose="020F0502020204030204" pitchFamily="34" charset="0"/>
                <a:cs typeface="Calibri" panose="020F0502020204030204" pitchFamily="34" charset="0"/>
              </a:endParaRPr>
            </a:p>
          </p:txBody>
        </p:sp>
        <p:sp>
          <p:nvSpPr>
            <p:cNvPr id="41" name="文本框 40">
              <a:extLst>
                <a:ext uri="{FF2B5EF4-FFF2-40B4-BE49-F238E27FC236}">
                  <a16:creationId xmlns:a16="http://schemas.microsoft.com/office/drawing/2014/main" id="{3A9EFC57-C3C6-C8A7-B2C5-9F2C936BED00}"/>
                </a:ext>
              </a:extLst>
            </p:cNvPr>
            <p:cNvSpPr txBox="1"/>
            <p:nvPr/>
          </p:nvSpPr>
          <p:spPr>
            <a:xfrm>
              <a:off x="4644108" y="5793740"/>
              <a:ext cx="1013362" cy="338554"/>
            </a:xfrm>
            <a:prstGeom prst="rect">
              <a:avLst/>
            </a:prstGeom>
            <a:noFill/>
          </p:spPr>
          <p:txBody>
            <a:bodyPr wrap="square">
              <a:spAutoFit/>
            </a:bodyPr>
            <a:lstStyle/>
            <a:p>
              <a:r>
                <a:rPr lang="en-US" altLang="zh-CN" sz="1600" b="1" dirty="0">
                  <a:latin typeface="Calibri" panose="020F0502020204030204" pitchFamily="34" charset="0"/>
                  <a:ea typeface="Calibri" panose="020F0502020204030204" pitchFamily="34" charset="0"/>
                  <a:cs typeface="Calibri" panose="020F0502020204030204" pitchFamily="34" charset="0"/>
                </a:rPr>
                <a:t>28</a:t>
              </a:r>
              <a:r>
                <a:rPr lang="en-US" altLang="zh-CN" sz="1600" b="1" baseline="30000" dirty="0">
                  <a:latin typeface="Calibri" panose="020F0502020204030204" pitchFamily="34" charset="0"/>
                  <a:ea typeface="Calibri" panose="020F0502020204030204" pitchFamily="34" charset="0"/>
                  <a:cs typeface="Calibri" panose="020F0502020204030204" pitchFamily="34" charset="0"/>
                </a:rPr>
                <a:t>2 </a:t>
              </a:r>
              <a:r>
                <a:rPr lang="en-US" altLang="zh-CN" sz="1600" b="1" dirty="0">
                  <a:latin typeface="Calibri" panose="020F0502020204030204" pitchFamily="34" charset="0"/>
                  <a:ea typeface="Calibri" panose="020F0502020204030204" pitchFamily="34" charset="0"/>
                  <a:cs typeface="Calibri" panose="020F0502020204030204" pitchFamily="34" charset="0"/>
                </a:rPr>
                <a:t>x 128</a:t>
              </a:r>
              <a:endParaRPr lang="en-US" altLang="zh-CN" sz="1600" b="1" baseline="30000" dirty="0">
                <a:latin typeface="Calibri" panose="020F0502020204030204" pitchFamily="34" charset="0"/>
                <a:ea typeface="Calibri" panose="020F0502020204030204" pitchFamily="34" charset="0"/>
                <a:cs typeface="Calibri" panose="020F0502020204030204" pitchFamily="34" charset="0"/>
              </a:endParaRPr>
            </a:p>
          </p:txBody>
        </p:sp>
        <p:sp>
          <p:nvSpPr>
            <p:cNvPr id="42" name="文本框 41">
              <a:extLst>
                <a:ext uri="{FF2B5EF4-FFF2-40B4-BE49-F238E27FC236}">
                  <a16:creationId xmlns:a16="http://schemas.microsoft.com/office/drawing/2014/main" id="{E2F852BC-27F5-FF04-83EA-D9BAB2118323}"/>
                </a:ext>
              </a:extLst>
            </p:cNvPr>
            <p:cNvSpPr txBox="1"/>
            <p:nvPr/>
          </p:nvSpPr>
          <p:spPr>
            <a:xfrm>
              <a:off x="5866762" y="5772884"/>
              <a:ext cx="1054980" cy="338554"/>
            </a:xfrm>
            <a:prstGeom prst="rect">
              <a:avLst/>
            </a:prstGeom>
            <a:noFill/>
          </p:spPr>
          <p:txBody>
            <a:bodyPr wrap="square">
              <a:spAutoFit/>
            </a:bodyPr>
            <a:lstStyle/>
            <a:p>
              <a:r>
                <a:rPr lang="en-US" altLang="zh-CN" sz="1600" b="1" dirty="0">
                  <a:latin typeface="Calibri" panose="020F0502020204030204" pitchFamily="34" charset="0"/>
                  <a:ea typeface="Calibri" panose="020F0502020204030204" pitchFamily="34" charset="0"/>
                  <a:cs typeface="Calibri" panose="020F0502020204030204" pitchFamily="34" charset="0"/>
                </a:rPr>
                <a:t>14</a:t>
              </a:r>
              <a:r>
                <a:rPr lang="en-US" altLang="zh-CN" sz="1600" b="1" baseline="30000" dirty="0">
                  <a:latin typeface="Calibri" panose="020F0502020204030204" pitchFamily="34" charset="0"/>
                  <a:ea typeface="Calibri" panose="020F0502020204030204" pitchFamily="34" charset="0"/>
                  <a:cs typeface="Calibri" panose="020F0502020204030204" pitchFamily="34" charset="0"/>
                </a:rPr>
                <a:t>2 </a:t>
              </a:r>
              <a:r>
                <a:rPr lang="en-US" altLang="zh-CN" sz="1600" b="1" dirty="0">
                  <a:latin typeface="Calibri" panose="020F0502020204030204" pitchFamily="34" charset="0"/>
                  <a:ea typeface="Calibri" panose="020F0502020204030204" pitchFamily="34" charset="0"/>
                  <a:cs typeface="Calibri" panose="020F0502020204030204" pitchFamily="34" charset="0"/>
                </a:rPr>
                <a:t>x 256</a:t>
              </a:r>
              <a:endParaRPr lang="en-US" altLang="zh-CN" sz="1600" b="1" baseline="30000" dirty="0">
                <a:latin typeface="Calibri" panose="020F0502020204030204" pitchFamily="34" charset="0"/>
                <a:ea typeface="Calibri" panose="020F0502020204030204" pitchFamily="34" charset="0"/>
                <a:cs typeface="Calibri" panose="020F0502020204030204" pitchFamily="34" charset="0"/>
              </a:endParaRPr>
            </a:p>
          </p:txBody>
        </p:sp>
        <p:sp>
          <p:nvSpPr>
            <p:cNvPr id="43" name="文本框 42">
              <a:extLst>
                <a:ext uri="{FF2B5EF4-FFF2-40B4-BE49-F238E27FC236}">
                  <a16:creationId xmlns:a16="http://schemas.microsoft.com/office/drawing/2014/main" id="{23B669FC-9B9B-4627-9C6B-C650B2AEFBBE}"/>
                </a:ext>
              </a:extLst>
            </p:cNvPr>
            <p:cNvSpPr txBox="1"/>
            <p:nvPr/>
          </p:nvSpPr>
          <p:spPr>
            <a:xfrm>
              <a:off x="7008539" y="5793740"/>
              <a:ext cx="1054980" cy="338554"/>
            </a:xfrm>
            <a:prstGeom prst="rect">
              <a:avLst/>
            </a:prstGeom>
            <a:noFill/>
          </p:spPr>
          <p:txBody>
            <a:bodyPr wrap="square">
              <a:spAutoFit/>
            </a:bodyPr>
            <a:lstStyle/>
            <a:p>
              <a:r>
                <a:rPr lang="en-US" altLang="zh-CN" sz="1600" b="1" dirty="0">
                  <a:latin typeface="Calibri" panose="020F0502020204030204" pitchFamily="34" charset="0"/>
                  <a:ea typeface="Calibri" panose="020F0502020204030204" pitchFamily="34" charset="0"/>
                  <a:cs typeface="Calibri" panose="020F0502020204030204" pitchFamily="34" charset="0"/>
                </a:rPr>
                <a:t>7</a:t>
              </a:r>
              <a:r>
                <a:rPr lang="en-US" altLang="zh-CN" sz="1600" b="1" baseline="30000" dirty="0">
                  <a:latin typeface="Calibri" panose="020F0502020204030204" pitchFamily="34" charset="0"/>
                  <a:ea typeface="Calibri" panose="020F0502020204030204" pitchFamily="34" charset="0"/>
                  <a:cs typeface="Calibri" panose="020F0502020204030204" pitchFamily="34" charset="0"/>
                </a:rPr>
                <a:t>2 </a:t>
              </a:r>
              <a:r>
                <a:rPr lang="en-US" altLang="zh-CN" sz="1600" b="1" dirty="0">
                  <a:latin typeface="Calibri" panose="020F0502020204030204" pitchFamily="34" charset="0"/>
                  <a:ea typeface="Calibri" panose="020F0502020204030204" pitchFamily="34" charset="0"/>
                  <a:cs typeface="Calibri" panose="020F0502020204030204" pitchFamily="34" charset="0"/>
                </a:rPr>
                <a:t>x 512</a:t>
              </a:r>
              <a:endParaRPr lang="en-US" altLang="zh-CN" sz="1600" b="1" baseline="30000" dirty="0">
                <a:latin typeface="Calibri" panose="020F0502020204030204" pitchFamily="34" charset="0"/>
                <a:ea typeface="Calibri" panose="020F0502020204030204" pitchFamily="34" charset="0"/>
                <a:cs typeface="Calibri" panose="020F0502020204030204" pitchFamily="34" charset="0"/>
              </a:endParaRPr>
            </a:p>
          </p:txBody>
        </p:sp>
        <p:sp>
          <p:nvSpPr>
            <p:cNvPr id="44" name="文本框 43">
              <a:extLst>
                <a:ext uri="{FF2B5EF4-FFF2-40B4-BE49-F238E27FC236}">
                  <a16:creationId xmlns:a16="http://schemas.microsoft.com/office/drawing/2014/main" id="{4BFDF3A5-DC85-EEAC-D7F7-B4BAE49A8C23}"/>
                </a:ext>
              </a:extLst>
            </p:cNvPr>
            <p:cNvSpPr txBox="1"/>
            <p:nvPr/>
          </p:nvSpPr>
          <p:spPr>
            <a:xfrm>
              <a:off x="7964807" y="5783778"/>
              <a:ext cx="1054980" cy="338554"/>
            </a:xfrm>
            <a:prstGeom prst="rect">
              <a:avLst/>
            </a:prstGeom>
            <a:noFill/>
          </p:spPr>
          <p:txBody>
            <a:bodyPr wrap="square">
              <a:spAutoFit/>
            </a:bodyPr>
            <a:lstStyle/>
            <a:p>
              <a:r>
                <a:rPr lang="en-US" altLang="zh-CN" sz="1600" b="1" dirty="0">
                  <a:latin typeface="Calibri" panose="020F0502020204030204" pitchFamily="34" charset="0"/>
                  <a:ea typeface="Calibri" panose="020F0502020204030204" pitchFamily="34" charset="0"/>
                  <a:cs typeface="Calibri" panose="020F0502020204030204" pitchFamily="34" charset="0"/>
                </a:rPr>
                <a:t>1</a:t>
              </a:r>
              <a:r>
                <a:rPr lang="en-US" altLang="zh-CN" sz="1600" b="1" baseline="30000" dirty="0">
                  <a:latin typeface="Calibri" panose="020F0502020204030204" pitchFamily="34" charset="0"/>
                  <a:ea typeface="Calibri" panose="020F0502020204030204" pitchFamily="34" charset="0"/>
                  <a:cs typeface="Calibri" panose="020F0502020204030204" pitchFamily="34" charset="0"/>
                </a:rPr>
                <a:t>2 </a:t>
              </a:r>
              <a:r>
                <a:rPr lang="en-US" altLang="zh-CN" sz="1600" b="1" dirty="0">
                  <a:latin typeface="Calibri" panose="020F0502020204030204" pitchFamily="34" charset="0"/>
                  <a:ea typeface="Calibri" panose="020F0502020204030204" pitchFamily="34" charset="0"/>
                  <a:cs typeface="Calibri" panose="020F0502020204030204" pitchFamily="34" charset="0"/>
                </a:rPr>
                <a:t>x 512</a:t>
              </a:r>
              <a:endParaRPr lang="en-US" altLang="zh-CN" sz="1600" b="1" baseline="30000" dirty="0">
                <a:latin typeface="Calibri" panose="020F0502020204030204" pitchFamily="34" charset="0"/>
                <a:ea typeface="Calibri" panose="020F0502020204030204" pitchFamily="34" charset="0"/>
                <a:cs typeface="Calibri" panose="020F0502020204030204" pitchFamily="34" charset="0"/>
              </a:endParaRPr>
            </a:p>
          </p:txBody>
        </p:sp>
        <p:sp>
          <p:nvSpPr>
            <p:cNvPr id="45" name="文本框 44">
              <a:extLst>
                <a:ext uri="{FF2B5EF4-FFF2-40B4-BE49-F238E27FC236}">
                  <a16:creationId xmlns:a16="http://schemas.microsoft.com/office/drawing/2014/main" id="{27FC95EF-058B-D98A-C214-023AFAEA9599}"/>
                </a:ext>
              </a:extLst>
            </p:cNvPr>
            <p:cNvSpPr txBox="1"/>
            <p:nvPr/>
          </p:nvSpPr>
          <p:spPr>
            <a:xfrm>
              <a:off x="8812964" y="5792866"/>
              <a:ext cx="1054980" cy="338554"/>
            </a:xfrm>
            <a:prstGeom prst="rect">
              <a:avLst/>
            </a:prstGeom>
            <a:noFill/>
          </p:spPr>
          <p:txBody>
            <a:bodyPr wrap="square">
              <a:spAutoFit/>
            </a:bodyPr>
            <a:lstStyle/>
            <a:p>
              <a:r>
                <a:rPr lang="en-US" altLang="zh-CN" sz="1600" b="1" dirty="0">
                  <a:latin typeface="Calibri" panose="020F0502020204030204" pitchFamily="34" charset="0"/>
                  <a:ea typeface="Calibri" panose="020F0502020204030204" pitchFamily="34" charset="0"/>
                  <a:cs typeface="Calibri" panose="020F0502020204030204" pitchFamily="34" charset="0"/>
                </a:rPr>
                <a:t>512 x 1</a:t>
              </a:r>
              <a:endParaRPr lang="en-US" altLang="zh-CN" sz="1600" b="1" baseline="30000" dirty="0">
                <a:latin typeface="Calibri" panose="020F0502020204030204" pitchFamily="34" charset="0"/>
                <a:ea typeface="Calibri" panose="020F0502020204030204" pitchFamily="34" charset="0"/>
                <a:cs typeface="Calibri" panose="020F0502020204030204" pitchFamily="34" charset="0"/>
              </a:endParaRPr>
            </a:p>
          </p:txBody>
        </p:sp>
        <p:sp>
          <p:nvSpPr>
            <p:cNvPr id="46" name="文本框 45">
              <a:extLst>
                <a:ext uri="{FF2B5EF4-FFF2-40B4-BE49-F238E27FC236}">
                  <a16:creationId xmlns:a16="http://schemas.microsoft.com/office/drawing/2014/main" id="{64995052-5063-B417-7E8B-DA53E4FDAEC2}"/>
                </a:ext>
              </a:extLst>
            </p:cNvPr>
            <p:cNvSpPr txBox="1"/>
            <p:nvPr/>
          </p:nvSpPr>
          <p:spPr>
            <a:xfrm>
              <a:off x="9758759" y="5772884"/>
              <a:ext cx="656483" cy="338554"/>
            </a:xfrm>
            <a:prstGeom prst="rect">
              <a:avLst/>
            </a:prstGeom>
            <a:noFill/>
          </p:spPr>
          <p:txBody>
            <a:bodyPr wrap="square">
              <a:spAutoFit/>
            </a:bodyPr>
            <a:lstStyle/>
            <a:p>
              <a:r>
                <a:rPr lang="en-US" altLang="zh-CN" sz="1600" b="1" dirty="0">
                  <a:latin typeface="Calibri" panose="020F0502020204030204" pitchFamily="34" charset="0"/>
                  <a:ea typeface="Calibri" panose="020F0502020204030204" pitchFamily="34" charset="0"/>
                  <a:cs typeface="Calibri" panose="020F0502020204030204" pitchFamily="34" charset="0"/>
                </a:rPr>
                <a:t>2 x 1</a:t>
              </a:r>
              <a:endParaRPr lang="en-US" altLang="zh-CN" sz="1600" b="1" baseline="30000" dirty="0">
                <a:latin typeface="Calibri" panose="020F0502020204030204" pitchFamily="34" charset="0"/>
                <a:ea typeface="Calibri" panose="020F0502020204030204" pitchFamily="34" charset="0"/>
                <a:cs typeface="Calibri" panose="020F0502020204030204" pitchFamily="34" charset="0"/>
              </a:endParaRPr>
            </a:p>
          </p:txBody>
        </p:sp>
        <p:sp>
          <p:nvSpPr>
            <p:cNvPr id="47" name="文本框 46">
              <a:extLst>
                <a:ext uri="{FF2B5EF4-FFF2-40B4-BE49-F238E27FC236}">
                  <a16:creationId xmlns:a16="http://schemas.microsoft.com/office/drawing/2014/main" id="{C06E9B22-C5C8-D88A-3A89-F35188DD359A}"/>
                </a:ext>
              </a:extLst>
            </p:cNvPr>
            <p:cNvSpPr txBox="1"/>
            <p:nvPr/>
          </p:nvSpPr>
          <p:spPr>
            <a:xfrm>
              <a:off x="10291298" y="5747604"/>
              <a:ext cx="1545101" cy="338554"/>
            </a:xfrm>
            <a:prstGeom prst="rect">
              <a:avLst/>
            </a:prstGeom>
            <a:noFill/>
          </p:spPr>
          <p:txBody>
            <a:bodyPr wrap="square">
              <a:spAutoFit/>
            </a:bodyPr>
            <a:lstStyle/>
            <a:p>
              <a:r>
                <a:rPr lang="en-US" altLang="zh-CN" sz="1600" b="1" dirty="0">
                  <a:latin typeface="Calibri" panose="020F0502020204030204" pitchFamily="34" charset="0"/>
                  <a:ea typeface="Calibri" panose="020F0502020204030204" pitchFamily="34" charset="0"/>
                  <a:cs typeface="Calibri" panose="020F0502020204030204" pitchFamily="34" charset="0"/>
                </a:rPr>
                <a:t>Biotic / Abiotic</a:t>
              </a:r>
              <a:endParaRPr lang="en-US" altLang="zh-CN" sz="1600" b="1" baseline="30000" dirty="0">
                <a:latin typeface="Calibri" panose="020F0502020204030204" pitchFamily="34" charset="0"/>
                <a:ea typeface="Calibri" panose="020F0502020204030204" pitchFamily="34" charset="0"/>
                <a:cs typeface="Calibri" panose="020F0502020204030204" pitchFamily="34" charset="0"/>
              </a:endParaRPr>
            </a:p>
          </p:txBody>
        </p:sp>
        <p:cxnSp>
          <p:nvCxnSpPr>
            <p:cNvPr id="49" name="直接连接符 48">
              <a:extLst>
                <a:ext uri="{FF2B5EF4-FFF2-40B4-BE49-F238E27FC236}">
                  <a16:creationId xmlns:a16="http://schemas.microsoft.com/office/drawing/2014/main" id="{B362175D-DDEF-AE27-A86B-3F75F662DF6F}"/>
                </a:ext>
              </a:extLst>
            </p:cNvPr>
            <p:cNvCxnSpPr>
              <a:cxnSpLocks/>
              <a:stCxn id="5" idx="0"/>
              <a:endCxn id="7" idx="4"/>
            </p:cNvCxnSpPr>
            <p:nvPr/>
          </p:nvCxnSpPr>
          <p:spPr>
            <a:xfrm>
              <a:off x="2170118" y="4003258"/>
              <a:ext cx="1011106" cy="485719"/>
            </a:xfrm>
            <a:prstGeom prst="line">
              <a:avLst/>
            </a:prstGeom>
            <a:ln w="9525">
              <a:prstDash val="dashDot"/>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7A019A12-85D4-424A-9097-6BF0AB7E93BD}"/>
                </a:ext>
              </a:extLst>
            </p:cNvPr>
            <p:cNvCxnSpPr>
              <a:cxnSpLocks/>
              <a:stCxn id="5" idx="1"/>
              <a:endCxn id="7" idx="2"/>
            </p:cNvCxnSpPr>
            <p:nvPr/>
          </p:nvCxnSpPr>
          <p:spPr>
            <a:xfrm>
              <a:off x="1967832" y="4205543"/>
              <a:ext cx="1084482" cy="283434"/>
            </a:xfrm>
            <a:prstGeom prst="line">
              <a:avLst/>
            </a:prstGeom>
            <a:ln w="9525">
              <a:prstDash val="dashDot"/>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6DA89297-8E0F-6229-912E-9DA0693D410F}"/>
                </a:ext>
              </a:extLst>
            </p:cNvPr>
            <p:cNvCxnSpPr>
              <a:cxnSpLocks/>
              <a:stCxn id="5" idx="3"/>
              <a:endCxn id="7" idx="2"/>
            </p:cNvCxnSpPr>
            <p:nvPr/>
          </p:nvCxnSpPr>
          <p:spPr>
            <a:xfrm flipV="1">
              <a:off x="1967832" y="4488977"/>
              <a:ext cx="1084482" cy="426766"/>
            </a:xfrm>
            <a:prstGeom prst="line">
              <a:avLst/>
            </a:prstGeom>
            <a:ln w="9525">
              <a:prstDash val="dashDot"/>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6D71CE8A-2CC8-F98F-E875-ECC4B7F602F7}"/>
                </a:ext>
              </a:extLst>
            </p:cNvPr>
            <p:cNvCxnSpPr>
              <a:cxnSpLocks/>
              <a:endCxn id="7" idx="4"/>
            </p:cNvCxnSpPr>
            <p:nvPr/>
          </p:nvCxnSpPr>
          <p:spPr>
            <a:xfrm flipV="1">
              <a:off x="2195625" y="4488977"/>
              <a:ext cx="985599" cy="223996"/>
            </a:xfrm>
            <a:prstGeom prst="line">
              <a:avLst/>
            </a:prstGeom>
            <a:ln w="9525">
              <a:prstDash val="dashDot"/>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3BE04F99-E1DD-AA89-D019-A95C3E283D9C}"/>
                </a:ext>
              </a:extLst>
            </p:cNvPr>
            <p:cNvCxnSpPr>
              <a:cxnSpLocks/>
              <a:stCxn id="7" idx="0"/>
            </p:cNvCxnSpPr>
            <p:nvPr/>
          </p:nvCxnSpPr>
          <p:spPr>
            <a:xfrm>
              <a:off x="3237139" y="4151380"/>
              <a:ext cx="723201" cy="207703"/>
            </a:xfrm>
            <a:prstGeom prst="line">
              <a:avLst/>
            </a:prstGeom>
            <a:ln w="9525">
              <a:prstDash val="dashDot"/>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8CA7DA01-1919-5BC7-EEED-C3E53B32FECF}"/>
                </a:ext>
              </a:extLst>
            </p:cNvPr>
            <p:cNvCxnSpPr>
              <a:cxnSpLocks/>
              <a:stCxn id="7" idx="1"/>
            </p:cNvCxnSpPr>
            <p:nvPr/>
          </p:nvCxnSpPr>
          <p:spPr>
            <a:xfrm>
              <a:off x="3116769" y="4271750"/>
              <a:ext cx="884919" cy="136894"/>
            </a:xfrm>
            <a:prstGeom prst="line">
              <a:avLst/>
            </a:prstGeom>
            <a:ln w="9525">
              <a:prstDash val="dashDot"/>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6A98B967-7BAC-8CE8-2359-FD06996501BF}"/>
                </a:ext>
              </a:extLst>
            </p:cNvPr>
            <p:cNvCxnSpPr>
              <a:cxnSpLocks/>
            </p:cNvCxnSpPr>
            <p:nvPr/>
          </p:nvCxnSpPr>
          <p:spPr>
            <a:xfrm flipV="1">
              <a:off x="3126785" y="4435699"/>
              <a:ext cx="917812" cy="287185"/>
            </a:xfrm>
            <a:prstGeom prst="line">
              <a:avLst/>
            </a:prstGeom>
            <a:ln w="9525">
              <a:prstDash val="dashDot"/>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F70CBDAB-8171-B1F2-CEFA-76116601ED54}"/>
                </a:ext>
              </a:extLst>
            </p:cNvPr>
            <p:cNvCxnSpPr>
              <a:cxnSpLocks/>
            </p:cNvCxnSpPr>
            <p:nvPr/>
          </p:nvCxnSpPr>
          <p:spPr>
            <a:xfrm flipV="1">
              <a:off x="3308753" y="4435699"/>
              <a:ext cx="692935" cy="93315"/>
            </a:xfrm>
            <a:prstGeom prst="line">
              <a:avLst/>
            </a:prstGeom>
            <a:ln w="9525">
              <a:prstDash val="dashDot"/>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08D122BB-8596-6588-B62B-77E4D5EE8A39}"/>
                </a:ext>
              </a:extLst>
            </p:cNvPr>
            <p:cNvCxnSpPr>
              <a:cxnSpLocks/>
            </p:cNvCxnSpPr>
            <p:nvPr/>
          </p:nvCxnSpPr>
          <p:spPr>
            <a:xfrm>
              <a:off x="4346633" y="4323289"/>
              <a:ext cx="512597" cy="98840"/>
            </a:xfrm>
            <a:prstGeom prst="line">
              <a:avLst/>
            </a:prstGeom>
            <a:ln w="9525">
              <a:prstDash val="dashDot"/>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F2FE9A51-B76E-72D5-230C-9D6FE7338C5C}"/>
                </a:ext>
              </a:extLst>
            </p:cNvPr>
            <p:cNvCxnSpPr>
              <a:cxnSpLocks/>
            </p:cNvCxnSpPr>
            <p:nvPr/>
          </p:nvCxnSpPr>
          <p:spPr>
            <a:xfrm>
              <a:off x="4231018" y="4376857"/>
              <a:ext cx="590864" cy="58842"/>
            </a:xfrm>
            <a:prstGeom prst="line">
              <a:avLst/>
            </a:prstGeom>
            <a:ln w="9525">
              <a:prstDash val="dashDot"/>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FB123755-E54E-6331-EC35-E00217D614A6}"/>
                </a:ext>
              </a:extLst>
            </p:cNvPr>
            <p:cNvCxnSpPr>
              <a:cxnSpLocks/>
              <a:stCxn id="8" idx="4"/>
            </p:cNvCxnSpPr>
            <p:nvPr/>
          </p:nvCxnSpPr>
          <p:spPr>
            <a:xfrm flipV="1">
              <a:off x="4227061" y="4449184"/>
              <a:ext cx="626103" cy="103776"/>
            </a:xfrm>
            <a:prstGeom prst="line">
              <a:avLst/>
            </a:prstGeom>
            <a:ln w="9525">
              <a:prstDash val="dashDot"/>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12ED2C27-1C32-2375-22AA-42DB2757426C}"/>
                </a:ext>
              </a:extLst>
            </p:cNvPr>
            <p:cNvCxnSpPr>
              <a:cxnSpLocks/>
            </p:cNvCxnSpPr>
            <p:nvPr/>
          </p:nvCxnSpPr>
          <p:spPr>
            <a:xfrm flipV="1">
              <a:off x="4330855" y="4476734"/>
              <a:ext cx="482304" cy="12243"/>
            </a:xfrm>
            <a:prstGeom prst="line">
              <a:avLst/>
            </a:prstGeom>
            <a:ln w="9525">
              <a:prstDash val="dashDot"/>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8C2F1A32-7D3B-5527-A2B1-0896A6BB6304}"/>
                </a:ext>
              </a:extLst>
            </p:cNvPr>
            <p:cNvCxnSpPr>
              <a:cxnSpLocks/>
            </p:cNvCxnSpPr>
            <p:nvPr/>
          </p:nvCxnSpPr>
          <p:spPr>
            <a:xfrm>
              <a:off x="5648904" y="4379372"/>
              <a:ext cx="366241" cy="56327"/>
            </a:xfrm>
            <a:prstGeom prst="line">
              <a:avLst/>
            </a:prstGeom>
            <a:ln w="9525">
              <a:prstDash val="dashDot"/>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629A298A-5822-2E1A-208F-9A4F6E479277}"/>
                </a:ext>
              </a:extLst>
            </p:cNvPr>
            <p:cNvCxnSpPr>
              <a:cxnSpLocks/>
            </p:cNvCxnSpPr>
            <p:nvPr/>
          </p:nvCxnSpPr>
          <p:spPr>
            <a:xfrm>
              <a:off x="5559344" y="4449184"/>
              <a:ext cx="414275" cy="20930"/>
            </a:xfrm>
            <a:prstGeom prst="line">
              <a:avLst/>
            </a:prstGeom>
            <a:ln w="9525">
              <a:prstDash val="dashDot"/>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CFA9B20E-22BB-E1FD-A9F5-5E54AE494ED4}"/>
                </a:ext>
              </a:extLst>
            </p:cNvPr>
            <p:cNvCxnSpPr>
              <a:cxnSpLocks/>
            </p:cNvCxnSpPr>
            <p:nvPr/>
          </p:nvCxnSpPr>
          <p:spPr>
            <a:xfrm flipV="1">
              <a:off x="5657470" y="4455988"/>
              <a:ext cx="307418" cy="146483"/>
            </a:xfrm>
            <a:prstGeom prst="line">
              <a:avLst/>
            </a:prstGeom>
            <a:ln w="9525">
              <a:prstDash val="dashDot"/>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7F7A0890-33DC-058C-D078-01EE1C5C8758}"/>
                </a:ext>
              </a:extLst>
            </p:cNvPr>
            <p:cNvCxnSpPr>
              <a:cxnSpLocks/>
              <a:stCxn id="12" idx="4"/>
            </p:cNvCxnSpPr>
            <p:nvPr/>
          </p:nvCxnSpPr>
          <p:spPr>
            <a:xfrm flipV="1">
              <a:off x="5523695" y="4442503"/>
              <a:ext cx="441193" cy="126247"/>
            </a:xfrm>
            <a:prstGeom prst="line">
              <a:avLst/>
            </a:prstGeom>
            <a:ln w="9525">
              <a:prstDash val="dashDot"/>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CFE75525-B312-8810-BA9C-E5336E552778}"/>
                </a:ext>
              </a:extLst>
            </p:cNvPr>
            <p:cNvCxnSpPr>
              <a:cxnSpLocks/>
              <a:stCxn id="17" idx="5"/>
            </p:cNvCxnSpPr>
            <p:nvPr/>
          </p:nvCxnSpPr>
          <p:spPr>
            <a:xfrm>
              <a:off x="7000584" y="4406823"/>
              <a:ext cx="443775" cy="69911"/>
            </a:xfrm>
            <a:prstGeom prst="line">
              <a:avLst/>
            </a:prstGeom>
            <a:ln w="9525">
              <a:prstDash val="dashDot"/>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4131CEA4-BE41-215C-EC76-3F6172DEC2BD}"/>
                </a:ext>
              </a:extLst>
            </p:cNvPr>
            <p:cNvCxnSpPr>
              <a:cxnSpLocks/>
              <a:stCxn id="17" idx="4"/>
            </p:cNvCxnSpPr>
            <p:nvPr/>
          </p:nvCxnSpPr>
          <p:spPr>
            <a:xfrm flipV="1">
              <a:off x="6851626" y="4529014"/>
              <a:ext cx="580210" cy="26767"/>
            </a:xfrm>
            <a:prstGeom prst="line">
              <a:avLst/>
            </a:prstGeom>
            <a:ln w="9525">
              <a:prstDash val="dashDot"/>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E345AB60-C03B-264A-7D8D-F9EEEF7F5BE3}"/>
                </a:ext>
              </a:extLst>
            </p:cNvPr>
            <p:cNvCxnSpPr>
              <a:cxnSpLocks/>
            </p:cNvCxnSpPr>
            <p:nvPr/>
          </p:nvCxnSpPr>
          <p:spPr>
            <a:xfrm>
              <a:off x="6820860" y="4442503"/>
              <a:ext cx="610976" cy="58569"/>
            </a:xfrm>
            <a:prstGeom prst="line">
              <a:avLst/>
            </a:prstGeom>
            <a:ln w="9525">
              <a:prstDash val="dashDot"/>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4F080DE5-313B-D8DE-3D06-2CDC0F28C571}"/>
                </a:ext>
              </a:extLst>
            </p:cNvPr>
            <p:cNvCxnSpPr>
              <a:cxnSpLocks/>
              <a:stCxn id="17" idx="5"/>
              <a:endCxn id="19" idx="2"/>
            </p:cNvCxnSpPr>
            <p:nvPr/>
          </p:nvCxnSpPr>
          <p:spPr>
            <a:xfrm>
              <a:off x="7000584" y="4406823"/>
              <a:ext cx="307418" cy="113028"/>
            </a:xfrm>
            <a:prstGeom prst="line">
              <a:avLst/>
            </a:prstGeom>
            <a:ln w="9525">
              <a:prstDash val="dashDot"/>
            </a:ln>
          </p:spPr>
          <p:style>
            <a:lnRef idx="1">
              <a:schemeClr val="accent1"/>
            </a:lnRef>
            <a:fillRef idx="0">
              <a:schemeClr val="accent1"/>
            </a:fillRef>
            <a:effectRef idx="0">
              <a:schemeClr val="accent1"/>
            </a:effectRef>
            <a:fontRef idx="minor">
              <a:schemeClr val="tx1"/>
            </a:fontRef>
          </p:style>
        </p:cxnSp>
        <p:sp>
          <p:nvSpPr>
            <p:cNvPr id="117" name="箭头: 右 116">
              <a:extLst>
                <a:ext uri="{FF2B5EF4-FFF2-40B4-BE49-F238E27FC236}">
                  <a16:creationId xmlns:a16="http://schemas.microsoft.com/office/drawing/2014/main" id="{D8A13FF6-4D8C-3873-2E08-387351DDB2DC}"/>
                </a:ext>
              </a:extLst>
            </p:cNvPr>
            <p:cNvSpPr/>
            <p:nvPr/>
          </p:nvSpPr>
          <p:spPr>
            <a:xfrm>
              <a:off x="7893050" y="4406823"/>
              <a:ext cx="240351" cy="146137"/>
            </a:xfrm>
            <a:prstGeom prst="rightArrow">
              <a:avLst/>
            </a:prstGeom>
            <a:ln w="22225"/>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18" name="箭头: 右 117">
              <a:extLst>
                <a:ext uri="{FF2B5EF4-FFF2-40B4-BE49-F238E27FC236}">
                  <a16:creationId xmlns:a16="http://schemas.microsoft.com/office/drawing/2014/main" id="{04E2DD75-DE67-3118-378C-7C8F94A4A4F1}"/>
                </a:ext>
              </a:extLst>
            </p:cNvPr>
            <p:cNvSpPr/>
            <p:nvPr/>
          </p:nvSpPr>
          <p:spPr>
            <a:xfrm>
              <a:off x="8667926" y="4413086"/>
              <a:ext cx="240351" cy="146137"/>
            </a:xfrm>
            <a:prstGeom prst="rightArrow">
              <a:avLst/>
            </a:prstGeom>
            <a:ln w="22225"/>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19" name="箭头: 右 118">
              <a:extLst>
                <a:ext uri="{FF2B5EF4-FFF2-40B4-BE49-F238E27FC236}">
                  <a16:creationId xmlns:a16="http://schemas.microsoft.com/office/drawing/2014/main" id="{91250DC4-720B-D246-F7FB-20CE0DF7CD32}"/>
                </a:ext>
              </a:extLst>
            </p:cNvPr>
            <p:cNvSpPr/>
            <p:nvPr/>
          </p:nvSpPr>
          <p:spPr>
            <a:xfrm>
              <a:off x="9448710" y="4413086"/>
              <a:ext cx="240351" cy="146137"/>
            </a:xfrm>
            <a:prstGeom prst="rightArrow">
              <a:avLst/>
            </a:prstGeom>
            <a:ln w="22225"/>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20" name="箭头: 右 119">
              <a:extLst>
                <a:ext uri="{FF2B5EF4-FFF2-40B4-BE49-F238E27FC236}">
                  <a16:creationId xmlns:a16="http://schemas.microsoft.com/office/drawing/2014/main" id="{D267DF31-B886-C2B4-5863-68644683C8C7}"/>
                </a:ext>
              </a:extLst>
            </p:cNvPr>
            <p:cNvSpPr/>
            <p:nvPr/>
          </p:nvSpPr>
          <p:spPr>
            <a:xfrm>
              <a:off x="10302831" y="4413086"/>
              <a:ext cx="240351" cy="146137"/>
            </a:xfrm>
            <a:prstGeom prst="rightArrow">
              <a:avLst/>
            </a:prstGeom>
            <a:ln w="22225"/>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Tree>
    <p:extLst>
      <p:ext uri="{BB962C8B-B14F-4D97-AF65-F5344CB8AC3E}">
        <p14:creationId xmlns:p14="http://schemas.microsoft.com/office/powerpoint/2010/main" val="2648077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F18B53-86EF-0046-50AE-E1AA998CB51D}"/>
              </a:ext>
            </a:extLst>
          </p:cNvPr>
          <p:cNvSpPr>
            <a:spLocks noGrp="1"/>
          </p:cNvSpPr>
          <p:nvPr>
            <p:ph type="title"/>
          </p:nvPr>
        </p:nvSpPr>
        <p:spPr/>
        <p:txBody>
          <a:bodyPr/>
          <a:lstStyle/>
          <a:p>
            <a:r>
              <a:rPr lang="en-US" altLang="zh-CN" dirty="0"/>
              <a:t>2.3 Example - Soft Voting </a:t>
            </a:r>
            <a:endParaRPr lang="zh-CN" altLang="en-US" dirty="0"/>
          </a:p>
        </p:txBody>
      </p:sp>
      <p:grpSp>
        <p:nvGrpSpPr>
          <p:cNvPr id="4" name="组合 3">
            <a:extLst>
              <a:ext uri="{FF2B5EF4-FFF2-40B4-BE49-F238E27FC236}">
                <a16:creationId xmlns:a16="http://schemas.microsoft.com/office/drawing/2014/main" id="{E18762CC-E12E-86C6-F972-140911993F2D}"/>
              </a:ext>
            </a:extLst>
          </p:cNvPr>
          <p:cNvGrpSpPr/>
          <p:nvPr/>
        </p:nvGrpSpPr>
        <p:grpSpPr>
          <a:xfrm>
            <a:off x="695960" y="1579530"/>
            <a:ext cx="3894941" cy="3142683"/>
            <a:chOff x="5006861" y="1437173"/>
            <a:chExt cx="4685216" cy="3767535"/>
          </a:xfrm>
        </p:grpSpPr>
        <p:pic>
          <p:nvPicPr>
            <p:cNvPr id="5" name="图片 4">
              <a:extLst>
                <a:ext uri="{FF2B5EF4-FFF2-40B4-BE49-F238E27FC236}">
                  <a16:creationId xmlns:a16="http://schemas.microsoft.com/office/drawing/2014/main" id="{3461A01B-C9C0-3A4C-328E-B9B004D7FD36}"/>
                </a:ext>
              </a:extLst>
            </p:cNvPr>
            <p:cNvPicPr>
              <a:picLocks noChangeAspect="1"/>
            </p:cNvPicPr>
            <p:nvPr/>
          </p:nvPicPr>
          <p:blipFill>
            <a:blip r:embed="rId3"/>
            <a:stretch>
              <a:fillRect/>
            </a:stretch>
          </p:blipFill>
          <p:spPr>
            <a:xfrm>
              <a:off x="5006861" y="3672593"/>
              <a:ext cx="1532114" cy="1532114"/>
            </a:xfrm>
            <a:prstGeom prst="rect">
              <a:avLst/>
            </a:prstGeom>
          </p:spPr>
        </p:pic>
        <p:pic>
          <p:nvPicPr>
            <p:cNvPr id="6" name="图片 5">
              <a:extLst>
                <a:ext uri="{FF2B5EF4-FFF2-40B4-BE49-F238E27FC236}">
                  <a16:creationId xmlns:a16="http://schemas.microsoft.com/office/drawing/2014/main" id="{EAAD846C-96CF-E294-F392-ADFF1B163118}"/>
                </a:ext>
              </a:extLst>
            </p:cNvPr>
            <p:cNvPicPr>
              <a:picLocks noChangeAspect="1"/>
            </p:cNvPicPr>
            <p:nvPr/>
          </p:nvPicPr>
          <p:blipFill>
            <a:blip r:embed="rId4"/>
            <a:stretch>
              <a:fillRect/>
            </a:stretch>
          </p:blipFill>
          <p:spPr>
            <a:xfrm>
              <a:off x="6815542" y="3672593"/>
              <a:ext cx="1532115" cy="1532115"/>
            </a:xfrm>
            <a:prstGeom prst="rect">
              <a:avLst/>
            </a:prstGeom>
          </p:spPr>
        </p:pic>
        <p:pic>
          <p:nvPicPr>
            <p:cNvPr id="7" name="图片 6">
              <a:extLst>
                <a:ext uri="{FF2B5EF4-FFF2-40B4-BE49-F238E27FC236}">
                  <a16:creationId xmlns:a16="http://schemas.microsoft.com/office/drawing/2014/main" id="{FA4A67C2-4B7B-17A2-BB79-E33CC84C96F5}"/>
                </a:ext>
              </a:extLst>
            </p:cNvPr>
            <p:cNvPicPr>
              <a:picLocks noChangeAspect="1"/>
            </p:cNvPicPr>
            <p:nvPr/>
          </p:nvPicPr>
          <p:blipFill>
            <a:blip r:embed="rId5"/>
            <a:stretch>
              <a:fillRect/>
            </a:stretch>
          </p:blipFill>
          <p:spPr>
            <a:xfrm>
              <a:off x="5006861" y="1896886"/>
              <a:ext cx="1532114" cy="1532114"/>
            </a:xfrm>
            <a:prstGeom prst="rect">
              <a:avLst/>
            </a:prstGeom>
          </p:spPr>
        </p:pic>
        <p:pic>
          <p:nvPicPr>
            <p:cNvPr id="8" name="图片 7">
              <a:extLst>
                <a:ext uri="{FF2B5EF4-FFF2-40B4-BE49-F238E27FC236}">
                  <a16:creationId xmlns:a16="http://schemas.microsoft.com/office/drawing/2014/main" id="{A359DFE0-AD72-8210-A9B8-15BBCF9C3E75}"/>
                </a:ext>
              </a:extLst>
            </p:cNvPr>
            <p:cNvPicPr>
              <a:picLocks noChangeAspect="1"/>
            </p:cNvPicPr>
            <p:nvPr/>
          </p:nvPicPr>
          <p:blipFill>
            <a:blip r:embed="rId6"/>
            <a:stretch>
              <a:fillRect/>
            </a:stretch>
          </p:blipFill>
          <p:spPr>
            <a:xfrm>
              <a:off x="6815543" y="1896886"/>
              <a:ext cx="1532115" cy="1532115"/>
            </a:xfrm>
            <a:prstGeom prst="rect">
              <a:avLst/>
            </a:prstGeom>
          </p:spPr>
        </p:pic>
        <p:cxnSp>
          <p:nvCxnSpPr>
            <p:cNvPr id="9" name="直接箭头连接符 8">
              <a:extLst>
                <a:ext uri="{FF2B5EF4-FFF2-40B4-BE49-F238E27FC236}">
                  <a16:creationId xmlns:a16="http://schemas.microsoft.com/office/drawing/2014/main" id="{2A1723D7-D5FC-A4F2-32ED-418354EC2E5C}"/>
                </a:ext>
              </a:extLst>
            </p:cNvPr>
            <p:cNvCxnSpPr>
              <a:cxnSpLocks/>
            </p:cNvCxnSpPr>
            <p:nvPr/>
          </p:nvCxnSpPr>
          <p:spPr>
            <a:xfrm flipV="1">
              <a:off x="6815543" y="1800225"/>
              <a:ext cx="1532114" cy="648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10" name="直接连接符 9">
              <a:extLst>
                <a:ext uri="{FF2B5EF4-FFF2-40B4-BE49-F238E27FC236}">
                  <a16:creationId xmlns:a16="http://schemas.microsoft.com/office/drawing/2014/main" id="{A3AC02B7-A1A3-C21E-97AA-29947B8B5367}"/>
                </a:ext>
              </a:extLst>
            </p:cNvPr>
            <p:cNvCxnSpPr>
              <a:cxnSpLocks/>
            </p:cNvCxnSpPr>
            <p:nvPr/>
          </p:nvCxnSpPr>
          <p:spPr>
            <a:xfrm>
              <a:off x="6815543" y="1735931"/>
              <a:ext cx="0" cy="181593"/>
            </a:xfrm>
            <a:prstGeom prst="line">
              <a:avLst/>
            </a:prstGeom>
          </p:spPr>
          <p:style>
            <a:lnRef idx="1">
              <a:schemeClr val="dk1"/>
            </a:lnRef>
            <a:fillRef idx="0">
              <a:schemeClr val="dk1"/>
            </a:fillRef>
            <a:effectRef idx="0">
              <a:schemeClr val="dk1"/>
            </a:effectRef>
            <a:fontRef idx="minor">
              <a:schemeClr val="tx1"/>
            </a:fontRef>
          </p:style>
        </p:cxnSp>
        <p:cxnSp>
          <p:nvCxnSpPr>
            <p:cNvPr id="11" name="直接连接符 10">
              <a:extLst>
                <a:ext uri="{FF2B5EF4-FFF2-40B4-BE49-F238E27FC236}">
                  <a16:creationId xmlns:a16="http://schemas.microsoft.com/office/drawing/2014/main" id="{4A0B2A37-5C8F-5C6D-E2FF-F0DDDA6A07AD}"/>
                </a:ext>
              </a:extLst>
            </p:cNvPr>
            <p:cNvCxnSpPr>
              <a:cxnSpLocks/>
            </p:cNvCxnSpPr>
            <p:nvPr/>
          </p:nvCxnSpPr>
          <p:spPr>
            <a:xfrm flipH="1">
              <a:off x="8347657" y="1735931"/>
              <a:ext cx="1" cy="199526"/>
            </a:xfrm>
            <a:prstGeom prst="line">
              <a:avLst/>
            </a:prstGeom>
          </p:spPr>
          <p:style>
            <a:lnRef idx="1">
              <a:schemeClr val="dk1"/>
            </a:lnRef>
            <a:fillRef idx="0">
              <a:schemeClr val="dk1"/>
            </a:fillRef>
            <a:effectRef idx="0">
              <a:schemeClr val="dk1"/>
            </a:effectRef>
            <a:fontRef idx="minor">
              <a:schemeClr val="tx1"/>
            </a:fontRef>
          </p:style>
        </p:cxnSp>
        <p:sp>
          <p:nvSpPr>
            <p:cNvPr id="12" name="文本框 11">
              <a:extLst>
                <a:ext uri="{FF2B5EF4-FFF2-40B4-BE49-F238E27FC236}">
                  <a16:creationId xmlns:a16="http://schemas.microsoft.com/office/drawing/2014/main" id="{43073BC4-F5AA-6177-CA70-A5736B350EE4}"/>
                </a:ext>
              </a:extLst>
            </p:cNvPr>
            <p:cNvSpPr txBox="1"/>
            <p:nvPr/>
          </p:nvSpPr>
          <p:spPr>
            <a:xfrm>
              <a:off x="6938053" y="1437173"/>
              <a:ext cx="1391670" cy="368972"/>
            </a:xfrm>
            <a:prstGeom prst="rect">
              <a:avLst/>
            </a:prstGeom>
            <a:noFill/>
          </p:spPr>
          <p:txBody>
            <a:bodyPr wrap="square" rtlCol="0">
              <a:spAutoFit/>
            </a:bodyPr>
            <a:lstStyle/>
            <a:p>
              <a:r>
                <a:rPr lang="en-US" altLang="zh-CN" sz="1400" b="1" dirty="0"/>
                <a:t>224 pixels</a:t>
              </a:r>
              <a:endParaRPr lang="zh-CN" altLang="en-US" sz="1400" b="1" dirty="0"/>
            </a:p>
          </p:txBody>
        </p:sp>
        <p:cxnSp>
          <p:nvCxnSpPr>
            <p:cNvPr id="13" name="直接箭头连接符 12">
              <a:extLst>
                <a:ext uri="{FF2B5EF4-FFF2-40B4-BE49-F238E27FC236}">
                  <a16:creationId xmlns:a16="http://schemas.microsoft.com/office/drawing/2014/main" id="{9BAF05F9-83BC-C427-5A1B-1987E28FE663}"/>
                </a:ext>
              </a:extLst>
            </p:cNvPr>
            <p:cNvCxnSpPr>
              <a:cxnSpLocks/>
            </p:cNvCxnSpPr>
            <p:nvPr/>
          </p:nvCxnSpPr>
          <p:spPr>
            <a:xfrm rot="5400000" flipV="1">
              <a:off x="7672397" y="2666436"/>
              <a:ext cx="1532114" cy="648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14" name="直接连接符 13">
              <a:extLst>
                <a:ext uri="{FF2B5EF4-FFF2-40B4-BE49-F238E27FC236}">
                  <a16:creationId xmlns:a16="http://schemas.microsoft.com/office/drawing/2014/main" id="{AEE5A869-BE74-56DE-3E75-1B32A5B750EF}"/>
                </a:ext>
              </a:extLst>
            </p:cNvPr>
            <p:cNvCxnSpPr>
              <a:cxnSpLocks/>
            </p:cNvCxnSpPr>
            <p:nvPr/>
          </p:nvCxnSpPr>
          <p:spPr>
            <a:xfrm rot="5400000">
              <a:off x="8438453" y="1809456"/>
              <a:ext cx="0" cy="181593"/>
            </a:xfrm>
            <a:prstGeom prst="line">
              <a:avLst/>
            </a:prstGeom>
          </p:spPr>
          <p:style>
            <a:lnRef idx="1">
              <a:schemeClr val="dk1"/>
            </a:lnRef>
            <a:fillRef idx="0">
              <a:schemeClr val="dk1"/>
            </a:fillRef>
            <a:effectRef idx="0">
              <a:schemeClr val="dk1"/>
            </a:effectRef>
            <a:fontRef idx="minor">
              <a:schemeClr val="tx1"/>
            </a:fontRef>
          </p:style>
        </p:cxnSp>
        <p:cxnSp>
          <p:nvCxnSpPr>
            <p:cNvPr id="15" name="直接连接符 14">
              <a:extLst>
                <a:ext uri="{FF2B5EF4-FFF2-40B4-BE49-F238E27FC236}">
                  <a16:creationId xmlns:a16="http://schemas.microsoft.com/office/drawing/2014/main" id="{F7C6A50F-E103-D5F5-FBA2-D40CC34E64BE}"/>
                </a:ext>
              </a:extLst>
            </p:cNvPr>
            <p:cNvCxnSpPr>
              <a:cxnSpLocks/>
            </p:cNvCxnSpPr>
            <p:nvPr/>
          </p:nvCxnSpPr>
          <p:spPr>
            <a:xfrm rot="5400000" flipH="1">
              <a:off x="8429486" y="3329238"/>
              <a:ext cx="1" cy="199526"/>
            </a:xfrm>
            <a:prstGeom prst="line">
              <a:avLst/>
            </a:prstGeom>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7A4B0672-A715-A869-98E7-39171DC3BC80}"/>
                </a:ext>
              </a:extLst>
            </p:cNvPr>
            <p:cNvSpPr txBox="1"/>
            <p:nvPr/>
          </p:nvSpPr>
          <p:spPr>
            <a:xfrm>
              <a:off x="8472878" y="2456280"/>
              <a:ext cx="1219199" cy="627251"/>
            </a:xfrm>
            <a:prstGeom prst="rect">
              <a:avLst/>
            </a:prstGeom>
            <a:noFill/>
          </p:spPr>
          <p:txBody>
            <a:bodyPr wrap="square" rtlCol="0">
              <a:spAutoFit/>
            </a:bodyPr>
            <a:lstStyle/>
            <a:p>
              <a:r>
                <a:rPr lang="en-US" altLang="zh-CN" sz="1400" b="1" dirty="0"/>
                <a:t>224 pixels</a:t>
              </a:r>
              <a:endParaRPr lang="zh-CN" altLang="en-US" sz="1400" b="1" dirty="0"/>
            </a:p>
          </p:txBody>
        </p:sp>
      </p:grpSp>
      <mc:AlternateContent xmlns:mc="http://schemas.openxmlformats.org/markup-compatibility/2006" xmlns:a14="http://schemas.microsoft.com/office/drawing/2010/main">
        <mc:Choice Requires="a14">
          <p:graphicFrame>
            <p:nvGraphicFramePr>
              <p:cNvPr id="19" name="表格 18">
                <a:extLst>
                  <a:ext uri="{FF2B5EF4-FFF2-40B4-BE49-F238E27FC236}">
                    <a16:creationId xmlns:a16="http://schemas.microsoft.com/office/drawing/2014/main" id="{89368280-CAFB-2015-8420-2E6C00EF0129}"/>
                  </a:ext>
                </a:extLst>
              </p:cNvPr>
              <p:cNvGraphicFramePr>
                <a:graphicFrameLocks noGrp="1"/>
              </p:cNvGraphicFramePr>
              <p:nvPr>
                <p:extLst>
                  <p:ext uri="{D42A27DB-BD31-4B8C-83A1-F6EECF244321}">
                    <p14:modId xmlns:p14="http://schemas.microsoft.com/office/powerpoint/2010/main" val="25235386"/>
                  </p:ext>
                </p:extLst>
              </p:nvPr>
            </p:nvGraphicFramePr>
            <p:xfrm>
              <a:off x="5473549" y="2215386"/>
              <a:ext cx="3976889" cy="2062480"/>
            </p:xfrm>
            <a:graphic>
              <a:graphicData uri="http://schemas.openxmlformats.org/drawingml/2006/table">
                <a:tbl>
                  <a:tblPr firstRow="1" bandRow="1">
                    <a:tableStyleId>{5C22544A-7EE6-4342-B048-85BDC9FD1C3A}</a:tableStyleId>
                  </a:tblPr>
                  <a:tblGrid>
                    <a:gridCol w="1554988">
                      <a:extLst>
                        <a:ext uri="{9D8B030D-6E8A-4147-A177-3AD203B41FA5}">
                          <a16:colId xmlns:a16="http://schemas.microsoft.com/office/drawing/2014/main" val="1402954177"/>
                        </a:ext>
                      </a:extLst>
                    </a:gridCol>
                    <a:gridCol w="2421901">
                      <a:extLst>
                        <a:ext uri="{9D8B030D-6E8A-4147-A177-3AD203B41FA5}">
                          <a16:colId xmlns:a16="http://schemas.microsoft.com/office/drawing/2014/main" val="686370626"/>
                        </a:ext>
                      </a:extLst>
                    </a:gridCol>
                  </a:tblGrid>
                  <a:tr h="370840">
                    <a:tc>
                      <a:txBody>
                        <a:bodyPr/>
                        <a:lstStyle/>
                        <a:p>
                          <a:pPr algn="ctr"/>
                          <a:r>
                            <a:rPr lang="en-US" altLang="zh-CN" sz="1600" dirty="0"/>
                            <a:t>No.</a:t>
                          </a:r>
                          <a:endParaRPr lang="zh-CN" altLang="en-US" sz="1600" dirty="0"/>
                        </a:p>
                      </a:txBody>
                      <a:tcPr anchor="ctr"/>
                    </a:tc>
                    <a:tc>
                      <a:txBody>
                        <a:bodyPr/>
                        <a:lstStyle/>
                        <a:p>
                          <a:pPr algn="ctr"/>
                          <a:r>
                            <a:rPr lang="en-US" altLang="zh-CN" sz="1600" dirty="0"/>
                            <a:t>Output Vector</a:t>
                          </a:r>
                        </a:p>
                        <a:p>
                          <a:pPr algn="ctr"/>
                          <a14:m>
                            <m:oMathPara xmlns:m="http://schemas.openxmlformats.org/officeDocument/2006/math">
                              <m:oMathParaPr>
                                <m:jc m:val="centerGroup"/>
                              </m:oMathParaPr>
                              <m:oMath xmlns:m="http://schemas.openxmlformats.org/officeDocument/2006/math">
                                <m:d>
                                  <m:dPr>
                                    <m:begChr m:val="["/>
                                    <m:endChr m:val="]"/>
                                    <m:ctrlPr>
                                      <a:rPr lang="zh-CN" altLang="en-US" sz="1600" i="1" smtClean="0">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𝑃</m:t>
                                        </m:r>
                                      </m:e>
                                      <m:sub>
                                        <m:r>
                                          <a:rPr lang="zh-CN" altLang="en-US" sz="1600" i="1">
                                            <a:latin typeface="Cambria Math" panose="02040503050406030204" pitchFamily="18" charset="0"/>
                                          </a:rPr>
                                          <m:t>𝑏𝑖𝑜𝑡𝑖𝑐</m:t>
                                        </m:r>
                                      </m:sub>
                                    </m:sSub>
                                    <m:r>
                                      <a:rPr lang="zh-CN" altLang="en-US" sz="1600" i="1">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𝑃</m:t>
                                        </m:r>
                                      </m:e>
                                      <m:sub>
                                        <m:r>
                                          <a:rPr lang="zh-CN" altLang="en-US" sz="1600" i="1">
                                            <a:latin typeface="Cambria Math" panose="02040503050406030204" pitchFamily="18" charset="0"/>
                                          </a:rPr>
                                          <m:t>𝑎𝑏𝑖𝑜𝑡𝑖𝑐</m:t>
                                        </m:r>
                                      </m:sub>
                                    </m:sSub>
                                  </m:e>
                                </m:d>
                              </m:oMath>
                            </m:oMathPara>
                          </a14:m>
                          <a:endParaRPr lang="zh-CN" altLang="en-US" sz="1600" dirty="0"/>
                        </a:p>
                      </a:txBody>
                      <a:tcPr anchor="ctr"/>
                    </a:tc>
                    <a:extLst>
                      <a:ext uri="{0D108BD9-81ED-4DB2-BD59-A6C34878D82A}">
                        <a16:rowId xmlns:a16="http://schemas.microsoft.com/office/drawing/2014/main" val="1101458508"/>
                      </a:ext>
                    </a:extLst>
                  </a:tr>
                  <a:tr h="370840">
                    <a:tc>
                      <a:txBody>
                        <a:bodyPr/>
                        <a:lstStyle/>
                        <a:p>
                          <a:pPr algn="ctr"/>
                          <a:r>
                            <a:rPr lang="en-US" altLang="zh-CN" dirty="0"/>
                            <a:t>Tile 1</a:t>
                          </a:r>
                          <a:endParaRPr lang="zh-CN" altLang="en-US" dirty="0"/>
                        </a:p>
                      </a:txBody>
                      <a:tcPr/>
                    </a:tc>
                    <a:tc>
                      <a:txBody>
                        <a:bodyPr/>
                        <a:lstStyle/>
                        <a:p>
                          <a:pPr algn="ctr"/>
                          <a:r>
                            <a:rPr lang="en-US" altLang="zh-CN" dirty="0"/>
                            <a:t>[0.60, 0.40]</a:t>
                          </a:r>
                          <a:endParaRPr lang="zh-CN" altLang="en-US" dirty="0"/>
                        </a:p>
                      </a:txBody>
                      <a:tcPr/>
                    </a:tc>
                    <a:extLst>
                      <a:ext uri="{0D108BD9-81ED-4DB2-BD59-A6C34878D82A}">
                        <a16:rowId xmlns:a16="http://schemas.microsoft.com/office/drawing/2014/main" val="277423854"/>
                      </a:ext>
                    </a:extLst>
                  </a:tr>
                  <a:tr h="370840">
                    <a:tc>
                      <a:txBody>
                        <a:bodyPr/>
                        <a:lstStyle/>
                        <a:p>
                          <a:pPr algn="ctr"/>
                          <a:r>
                            <a:rPr lang="en-US" altLang="zh-CN" dirty="0"/>
                            <a:t>Tile 2</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[0.90, 0.10]</a:t>
                          </a:r>
                          <a:endParaRPr lang="zh-CN" altLang="en-US" dirty="0"/>
                        </a:p>
                      </a:txBody>
                      <a:tcPr/>
                    </a:tc>
                    <a:extLst>
                      <a:ext uri="{0D108BD9-81ED-4DB2-BD59-A6C34878D82A}">
                        <a16:rowId xmlns:a16="http://schemas.microsoft.com/office/drawing/2014/main" val="4210751002"/>
                      </a:ext>
                    </a:extLst>
                  </a:tr>
                  <a:tr h="370840">
                    <a:tc>
                      <a:txBody>
                        <a:bodyPr/>
                        <a:lstStyle/>
                        <a:p>
                          <a:pPr algn="ctr"/>
                          <a:r>
                            <a:rPr lang="en-US" altLang="zh-CN" dirty="0"/>
                            <a:t>Tile 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[0.30, 0.70]</a:t>
                          </a:r>
                          <a:endParaRPr lang="zh-CN" altLang="en-US" dirty="0"/>
                        </a:p>
                      </a:txBody>
                      <a:tcPr/>
                    </a:tc>
                    <a:extLst>
                      <a:ext uri="{0D108BD9-81ED-4DB2-BD59-A6C34878D82A}">
                        <a16:rowId xmlns:a16="http://schemas.microsoft.com/office/drawing/2014/main" val="1277515820"/>
                      </a:ext>
                    </a:extLst>
                  </a:tr>
                  <a:tr h="370840">
                    <a:tc>
                      <a:txBody>
                        <a:bodyPr/>
                        <a:lstStyle/>
                        <a:p>
                          <a:pPr algn="ctr"/>
                          <a:r>
                            <a:rPr lang="en-US" altLang="zh-CN" dirty="0"/>
                            <a:t>Tile 4</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[0.50, 0.50]</a:t>
                          </a:r>
                          <a:endParaRPr lang="zh-CN" altLang="en-US" dirty="0"/>
                        </a:p>
                      </a:txBody>
                      <a:tcPr/>
                    </a:tc>
                    <a:extLst>
                      <a:ext uri="{0D108BD9-81ED-4DB2-BD59-A6C34878D82A}">
                        <a16:rowId xmlns:a16="http://schemas.microsoft.com/office/drawing/2014/main" val="2576872067"/>
                      </a:ext>
                    </a:extLst>
                  </a:tr>
                </a:tbl>
              </a:graphicData>
            </a:graphic>
          </p:graphicFrame>
        </mc:Choice>
        <mc:Fallback xmlns="">
          <p:graphicFrame>
            <p:nvGraphicFramePr>
              <p:cNvPr id="19" name="表格 18">
                <a:extLst>
                  <a:ext uri="{FF2B5EF4-FFF2-40B4-BE49-F238E27FC236}">
                    <a16:creationId xmlns:a16="http://schemas.microsoft.com/office/drawing/2014/main" id="{89368280-CAFB-2015-8420-2E6C00EF0129}"/>
                  </a:ext>
                </a:extLst>
              </p:cNvPr>
              <p:cNvGraphicFramePr>
                <a:graphicFrameLocks noGrp="1"/>
              </p:cNvGraphicFramePr>
              <p:nvPr>
                <p:extLst>
                  <p:ext uri="{D42A27DB-BD31-4B8C-83A1-F6EECF244321}">
                    <p14:modId xmlns:p14="http://schemas.microsoft.com/office/powerpoint/2010/main" val="25235386"/>
                  </p:ext>
                </p:extLst>
              </p:nvPr>
            </p:nvGraphicFramePr>
            <p:xfrm>
              <a:off x="5473549" y="2215386"/>
              <a:ext cx="3976889" cy="2062480"/>
            </p:xfrm>
            <a:graphic>
              <a:graphicData uri="http://schemas.openxmlformats.org/drawingml/2006/table">
                <a:tbl>
                  <a:tblPr firstRow="1" bandRow="1">
                    <a:tableStyleId>{5C22544A-7EE6-4342-B048-85BDC9FD1C3A}</a:tableStyleId>
                  </a:tblPr>
                  <a:tblGrid>
                    <a:gridCol w="1554988">
                      <a:extLst>
                        <a:ext uri="{9D8B030D-6E8A-4147-A177-3AD203B41FA5}">
                          <a16:colId xmlns:a16="http://schemas.microsoft.com/office/drawing/2014/main" val="1402954177"/>
                        </a:ext>
                      </a:extLst>
                    </a:gridCol>
                    <a:gridCol w="2421901">
                      <a:extLst>
                        <a:ext uri="{9D8B030D-6E8A-4147-A177-3AD203B41FA5}">
                          <a16:colId xmlns:a16="http://schemas.microsoft.com/office/drawing/2014/main" val="686370626"/>
                        </a:ext>
                      </a:extLst>
                    </a:gridCol>
                  </a:tblGrid>
                  <a:tr h="579120">
                    <a:tc>
                      <a:txBody>
                        <a:bodyPr/>
                        <a:lstStyle/>
                        <a:p>
                          <a:pPr algn="ctr"/>
                          <a:r>
                            <a:rPr lang="en-US" altLang="zh-CN" sz="1600" dirty="0"/>
                            <a:t>No.</a:t>
                          </a:r>
                          <a:endParaRPr lang="zh-CN" altLang="en-US" sz="1600" dirty="0"/>
                        </a:p>
                      </a:txBody>
                      <a:tcPr anchor="ctr"/>
                    </a:tc>
                    <a:tc>
                      <a:txBody>
                        <a:bodyPr/>
                        <a:lstStyle/>
                        <a:p>
                          <a:endParaRPr lang="zh-CN"/>
                        </a:p>
                      </a:txBody>
                      <a:tcPr anchor="ctr">
                        <a:blipFill>
                          <a:blip r:embed="rId7"/>
                          <a:stretch>
                            <a:fillRect l="-64573" t="-3158" r="-1005" b="-272632"/>
                          </a:stretch>
                        </a:blipFill>
                      </a:tcPr>
                    </a:tc>
                    <a:extLst>
                      <a:ext uri="{0D108BD9-81ED-4DB2-BD59-A6C34878D82A}">
                        <a16:rowId xmlns:a16="http://schemas.microsoft.com/office/drawing/2014/main" val="1101458508"/>
                      </a:ext>
                    </a:extLst>
                  </a:tr>
                  <a:tr h="370840">
                    <a:tc>
                      <a:txBody>
                        <a:bodyPr/>
                        <a:lstStyle/>
                        <a:p>
                          <a:pPr algn="ctr"/>
                          <a:r>
                            <a:rPr lang="en-US" altLang="zh-CN" dirty="0"/>
                            <a:t>Tile 1</a:t>
                          </a:r>
                          <a:endParaRPr lang="zh-CN" altLang="en-US" dirty="0"/>
                        </a:p>
                      </a:txBody>
                      <a:tcPr/>
                    </a:tc>
                    <a:tc>
                      <a:txBody>
                        <a:bodyPr/>
                        <a:lstStyle/>
                        <a:p>
                          <a:pPr algn="ctr"/>
                          <a:r>
                            <a:rPr lang="en-US" altLang="zh-CN" dirty="0"/>
                            <a:t>[0.60, 0.40]</a:t>
                          </a:r>
                          <a:endParaRPr lang="zh-CN" altLang="en-US" dirty="0"/>
                        </a:p>
                      </a:txBody>
                      <a:tcPr/>
                    </a:tc>
                    <a:extLst>
                      <a:ext uri="{0D108BD9-81ED-4DB2-BD59-A6C34878D82A}">
                        <a16:rowId xmlns:a16="http://schemas.microsoft.com/office/drawing/2014/main" val="277423854"/>
                      </a:ext>
                    </a:extLst>
                  </a:tr>
                  <a:tr h="370840">
                    <a:tc>
                      <a:txBody>
                        <a:bodyPr/>
                        <a:lstStyle/>
                        <a:p>
                          <a:pPr algn="ctr"/>
                          <a:r>
                            <a:rPr lang="en-US" altLang="zh-CN" dirty="0"/>
                            <a:t>Tile 2</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[0.90, 0.10]</a:t>
                          </a:r>
                          <a:endParaRPr lang="zh-CN" altLang="en-US" dirty="0"/>
                        </a:p>
                      </a:txBody>
                      <a:tcPr/>
                    </a:tc>
                    <a:extLst>
                      <a:ext uri="{0D108BD9-81ED-4DB2-BD59-A6C34878D82A}">
                        <a16:rowId xmlns:a16="http://schemas.microsoft.com/office/drawing/2014/main" val="4210751002"/>
                      </a:ext>
                    </a:extLst>
                  </a:tr>
                  <a:tr h="370840">
                    <a:tc>
                      <a:txBody>
                        <a:bodyPr/>
                        <a:lstStyle/>
                        <a:p>
                          <a:pPr algn="ctr"/>
                          <a:r>
                            <a:rPr lang="en-US" altLang="zh-CN" dirty="0"/>
                            <a:t>Tile 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[0.30, 0.70]</a:t>
                          </a:r>
                          <a:endParaRPr lang="zh-CN" altLang="en-US" dirty="0"/>
                        </a:p>
                      </a:txBody>
                      <a:tcPr/>
                    </a:tc>
                    <a:extLst>
                      <a:ext uri="{0D108BD9-81ED-4DB2-BD59-A6C34878D82A}">
                        <a16:rowId xmlns:a16="http://schemas.microsoft.com/office/drawing/2014/main" val="1277515820"/>
                      </a:ext>
                    </a:extLst>
                  </a:tr>
                  <a:tr h="370840">
                    <a:tc>
                      <a:txBody>
                        <a:bodyPr/>
                        <a:lstStyle/>
                        <a:p>
                          <a:pPr algn="ctr"/>
                          <a:r>
                            <a:rPr lang="en-US" altLang="zh-CN" dirty="0"/>
                            <a:t>Tile 4</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[0.50, 0.50]</a:t>
                          </a:r>
                          <a:endParaRPr lang="zh-CN" altLang="en-US" dirty="0"/>
                        </a:p>
                      </a:txBody>
                      <a:tcPr/>
                    </a:tc>
                    <a:extLst>
                      <a:ext uri="{0D108BD9-81ED-4DB2-BD59-A6C34878D82A}">
                        <a16:rowId xmlns:a16="http://schemas.microsoft.com/office/drawing/2014/main" val="2576872067"/>
                      </a:ext>
                    </a:extLst>
                  </a:tr>
                </a:tbl>
              </a:graphicData>
            </a:graphic>
          </p:graphicFrame>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D2C0BADF-576B-7307-0B52-8C53913E48A7}"/>
                  </a:ext>
                </a:extLst>
              </p:cNvPr>
              <p:cNvSpPr txBox="1"/>
              <p:nvPr/>
            </p:nvSpPr>
            <p:spPr>
              <a:xfrm>
                <a:off x="3181350" y="4855898"/>
                <a:ext cx="6096000" cy="6260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zh-CN" altLang="en-US" i="0" smtClean="0">
                          <a:latin typeface="Cambria Math" panose="02040503050406030204" pitchFamily="18" charset="0"/>
                        </a:rPr>
                        <m:t>Mean</m:t>
                      </m:r>
                      <m:r>
                        <a:rPr lang="zh-CN" altLang="en-US" i="1">
                          <a:latin typeface="Cambria Math" panose="02040503050406030204" pitchFamily="18" charset="0"/>
                        </a:rPr>
                        <m:t>=</m:t>
                      </m:r>
                      <m:f>
                        <m:fPr>
                          <m:ctrlPr>
                            <a:rPr lang="zh-CN" altLang="en-US" i="1">
                              <a:latin typeface="Cambria Math" panose="02040503050406030204" pitchFamily="18" charset="0"/>
                            </a:rPr>
                          </m:ctrlPr>
                        </m:fPr>
                        <m:num>
                          <m:nary>
                            <m:naryPr>
                              <m:chr m:val="∑"/>
                              <m:subHide m:val="on"/>
                              <m:supHide m:val="on"/>
                              <m:ctrlPr>
                                <a:rPr lang="zh-CN" altLang="en-US" i="1">
                                  <a:latin typeface="Cambria Math" panose="02040503050406030204" pitchFamily="18" charset="0"/>
                                </a:rPr>
                              </m:ctrlPr>
                            </m:naryPr>
                            <m:sub/>
                            <m:sup/>
                            <m:e>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1">
                                      <a:latin typeface="Cambria Math" panose="02040503050406030204" pitchFamily="18" charset="0"/>
                                    </a:rPr>
                                    <m:t>𝑡𝑖𝑙𝑒𝑠</m:t>
                                  </m:r>
                                </m:sub>
                              </m:sSub>
                            </m:e>
                          </m:nary>
                        </m:num>
                        <m:den>
                          <m:r>
                            <a:rPr lang="zh-CN" altLang="en-US" i="1">
                              <a:latin typeface="Cambria Math" panose="02040503050406030204" pitchFamily="18" charset="0"/>
                            </a:rPr>
                            <m:t>4</m:t>
                          </m:r>
                        </m:den>
                      </m:f>
                      <m:r>
                        <a:rPr lang="zh-CN" altLang="en-US" i="1">
                          <a:latin typeface="Cambria Math" panose="02040503050406030204" pitchFamily="18" charset="0"/>
                        </a:rPr>
                        <m:t>=</m:t>
                      </m:r>
                      <m:d>
                        <m:dPr>
                          <m:begChr m:val="["/>
                          <m:endChr m:val="]"/>
                          <m:ctrlPr>
                            <a:rPr lang="zh-CN" altLang="en-US" i="1">
                              <a:latin typeface="Cambria Math" panose="02040503050406030204" pitchFamily="18" charset="0"/>
                            </a:rPr>
                          </m:ctrlPr>
                        </m:dPr>
                        <m:e>
                          <m:r>
                            <a:rPr lang="zh-CN" altLang="en-US" i="1">
                              <a:latin typeface="Cambria Math" panose="02040503050406030204" pitchFamily="18" charset="0"/>
                            </a:rPr>
                            <m:t>𝟎</m:t>
                          </m:r>
                          <m:r>
                            <a:rPr lang="zh-CN" altLang="en-US" i="1">
                              <a:latin typeface="Cambria Math" panose="02040503050406030204" pitchFamily="18" charset="0"/>
                            </a:rPr>
                            <m:t>.</m:t>
                          </m:r>
                          <m:r>
                            <a:rPr lang="zh-CN" altLang="en-US" i="1">
                              <a:latin typeface="Cambria Math" panose="02040503050406030204" pitchFamily="18" charset="0"/>
                            </a:rPr>
                            <m:t>𝟓𝟕𝟓</m:t>
                          </m:r>
                          <m:r>
                            <a:rPr lang="zh-CN" altLang="en-US" i="1">
                              <a:latin typeface="Cambria Math" panose="02040503050406030204" pitchFamily="18" charset="0"/>
                            </a:rPr>
                            <m:t>,</m:t>
                          </m:r>
                          <m:r>
                            <a:rPr lang="zh-CN" altLang="en-US" i="1">
                              <a:latin typeface="Cambria Math" panose="02040503050406030204" pitchFamily="18" charset="0"/>
                            </a:rPr>
                            <m:t>𝟎</m:t>
                          </m:r>
                          <m:r>
                            <a:rPr lang="zh-CN" altLang="en-US" i="1">
                              <a:latin typeface="Cambria Math" panose="02040503050406030204" pitchFamily="18" charset="0"/>
                            </a:rPr>
                            <m:t>.</m:t>
                          </m:r>
                          <m:r>
                            <a:rPr lang="zh-CN" altLang="en-US" i="1">
                              <a:latin typeface="Cambria Math" panose="02040503050406030204" pitchFamily="18" charset="0"/>
                            </a:rPr>
                            <m:t>𝟒𝟐𝟓</m:t>
                          </m:r>
                        </m:e>
                      </m:d>
                    </m:oMath>
                  </m:oMathPara>
                </a14:m>
                <a:endParaRPr lang="zh-CN" altLang="en-US" dirty="0"/>
              </a:p>
            </p:txBody>
          </p:sp>
        </mc:Choice>
        <mc:Fallback xmlns="">
          <p:sp>
            <p:nvSpPr>
              <p:cNvPr id="22" name="文本框 21">
                <a:extLst>
                  <a:ext uri="{FF2B5EF4-FFF2-40B4-BE49-F238E27FC236}">
                    <a16:creationId xmlns:a16="http://schemas.microsoft.com/office/drawing/2014/main" id="{D2C0BADF-576B-7307-0B52-8C53913E48A7}"/>
                  </a:ext>
                </a:extLst>
              </p:cNvPr>
              <p:cNvSpPr txBox="1">
                <a:spLocks noRot="1" noChangeAspect="1" noMove="1" noResize="1" noEditPoints="1" noAdjustHandles="1" noChangeArrowheads="1" noChangeShapeType="1" noTextEdit="1"/>
              </p:cNvSpPr>
              <p:nvPr/>
            </p:nvSpPr>
            <p:spPr>
              <a:xfrm>
                <a:off x="3181350" y="4855898"/>
                <a:ext cx="6096000" cy="626005"/>
              </a:xfrm>
              <a:prstGeom prst="rect">
                <a:avLst/>
              </a:prstGeom>
              <a:blipFill>
                <a:blip r:embed="rId8"/>
                <a:stretch>
                  <a:fillRect/>
                </a:stretch>
              </a:blipFill>
            </p:spPr>
            <p:txBody>
              <a:bodyPr/>
              <a:lstStyle/>
              <a:p>
                <a:r>
                  <a:rPr lang="zh-CN" altLang="en-US">
                    <a:noFill/>
                  </a:rPr>
                  <a:t> </a:t>
                </a:r>
              </a:p>
            </p:txBody>
          </p:sp>
        </mc:Fallback>
      </mc:AlternateContent>
      <p:sp>
        <p:nvSpPr>
          <p:cNvPr id="24" name="文本框 23">
            <a:extLst>
              <a:ext uri="{FF2B5EF4-FFF2-40B4-BE49-F238E27FC236}">
                <a16:creationId xmlns:a16="http://schemas.microsoft.com/office/drawing/2014/main" id="{528CAD4A-4EC2-28AE-18D6-3785CCF34CED}"/>
              </a:ext>
            </a:extLst>
          </p:cNvPr>
          <p:cNvSpPr txBox="1"/>
          <p:nvPr/>
        </p:nvSpPr>
        <p:spPr>
          <a:xfrm>
            <a:off x="8331200" y="4984234"/>
            <a:ext cx="2781300" cy="369332"/>
          </a:xfrm>
          <a:prstGeom prst="rect">
            <a:avLst/>
          </a:prstGeom>
          <a:noFill/>
        </p:spPr>
        <p:txBody>
          <a:bodyPr wrap="square">
            <a:spAutoFit/>
          </a:bodyPr>
          <a:lstStyle/>
          <a:p>
            <a:r>
              <a:rPr lang="en-US" altLang="zh-CN" b="1" dirty="0"/>
              <a:t>Final Result</a:t>
            </a:r>
            <a:r>
              <a:rPr lang="en-US" altLang="zh-CN" dirty="0"/>
              <a:t>: </a:t>
            </a:r>
            <a:r>
              <a:rPr lang="en-US" altLang="zh-CN" b="1" dirty="0"/>
              <a:t>Biotic</a:t>
            </a:r>
            <a:endParaRPr lang="zh-CN" altLang="en-US" dirty="0"/>
          </a:p>
        </p:txBody>
      </p:sp>
    </p:spTree>
    <p:extLst>
      <p:ext uri="{BB962C8B-B14F-4D97-AF65-F5344CB8AC3E}">
        <p14:creationId xmlns:p14="http://schemas.microsoft.com/office/powerpoint/2010/main" val="3199234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58FB73-EE30-1DEA-1C79-7CA36318AA1A}"/>
              </a:ext>
            </a:extLst>
          </p:cNvPr>
          <p:cNvSpPr>
            <a:spLocks noGrp="1"/>
          </p:cNvSpPr>
          <p:nvPr>
            <p:ph type="title"/>
          </p:nvPr>
        </p:nvSpPr>
        <p:spPr/>
        <p:txBody>
          <a:bodyPr/>
          <a:lstStyle/>
          <a:p>
            <a:r>
              <a:rPr lang="en-US" altLang="zh-CN" dirty="0">
                <a:latin typeface="Calibri" panose="020F0502020204030204" pitchFamily="34" charset="0"/>
                <a:ea typeface="Calibri" panose="020F0502020204030204" pitchFamily="34" charset="0"/>
                <a:cs typeface="Calibri" panose="020F0502020204030204" pitchFamily="34" charset="0"/>
              </a:rPr>
              <a:t>3. Data Engineering &amp; Rigorous Partitioning</a:t>
            </a:r>
            <a:endParaRPr lang="zh-CN" altLang="en-US" dirty="0"/>
          </a:p>
        </p:txBody>
      </p:sp>
      <p:pic>
        <p:nvPicPr>
          <p:cNvPr id="5" name="内容占位符 4" descr="黑色的照相机&#10;&#10;AI 生成的内容可能不正确。">
            <a:extLst>
              <a:ext uri="{FF2B5EF4-FFF2-40B4-BE49-F238E27FC236}">
                <a16:creationId xmlns:a16="http://schemas.microsoft.com/office/drawing/2014/main" id="{C0600C0B-9E3E-A473-A78B-99525B8DD182}"/>
              </a:ext>
            </a:extLst>
          </p:cNvPr>
          <p:cNvPicPr>
            <a:picLocks noGrp="1" noChangeAspect="1"/>
          </p:cNvPicPr>
          <p:nvPr>
            <p:ph idx="1"/>
          </p:nvPr>
        </p:nvPicPr>
        <p:blipFill>
          <a:blip r:embed="rId3"/>
          <a:srcRect l="18909" r="22083"/>
          <a:stretch>
            <a:fillRect/>
          </a:stretch>
        </p:blipFill>
        <p:spPr>
          <a:xfrm>
            <a:off x="3722179" y="3605938"/>
            <a:ext cx="748855" cy="761451"/>
          </a:xfrm>
          <a:prstGeom prst="rect">
            <a:avLst/>
          </a:prstGeom>
        </p:spPr>
      </p:pic>
      <p:pic>
        <p:nvPicPr>
          <p:cNvPr id="7" name="图片 6" descr="图片包含 照片, 桌子, 建筑, 女人&#10;&#10;AI 生成的内容可能不正确。">
            <a:extLst>
              <a:ext uri="{FF2B5EF4-FFF2-40B4-BE49-F238E27FC236}">
                <a16:creationId xmlns:a16="http://schemas.microsoft.com/office/drawing/2014/main" id="{21A9D21F-6AD9-DBDA-2A4B-0D0644CF99AF}"/>
              </a:ext>
            </a:extLst>
          </p:cNvPr>
          <p:cNvPicPr>
            <a:picLocks noChangeAspect="1"/>
          </p:cNvPicPr>
          <p:nvPr/>
        </p:nvPicPr>
        <p:blipFill>
          <a:blip r:embed="rId4"/>
          <a:stretch>
            <a:fillRect/>
          </a:stretch>
        </p:blipFill>
        <p:spPr>
          <a:xfrm>
            <a:off x="392727" y="2506138"/>
            <a:ext cx="2580903" cy="2070099"/>
          </a:xfrm>
          <a:prstGeom prst="rect">
            <a:avLst/>
          </a:prstGeom>
        </p:spPr>
      </p:pic>
      <p:pic>
        <p:nvPicPr>
          <p:cNvPr id="13" name="图片 12" descr="徽标&#10;&#10;AI 生成的内容可能不正确。">
            <a:extLst>
              <a:ext uri="{FF2B5EF4-FFF2-40B4-BE49-F238E27FC236}">
                <a16:creationId xmlns:a16="http://schemas.microsoft.com/office/drawing/2014/main" id="{E136692F-E116-5CD9-0A24-70B9DA42DBD6}"/>
              </a:ext>
            </a:extLst>
          </p:cNvPr>
          <p:cNvPicPr>
            <a:picLocks noChangeAspect="1"/>
          </p:cNvPicPr>
          <p:nvPr/>
        </p:nvPicPr>
        <p:blipFill>
          <a:blip r:embed="rId5"/>
          <a:stretch>
            <a:fillRect/>
          </a:stretch>
        </p:blipFill>
        <p:spPr>
          <a:xfrm>
            <a:off x="8673932" y="3154594"/>
            <a:ext cx="3234492" cy="773185"/>
          </a:xfrm>
          <a:prstGeom prst="rect">
            <a:avLst/>
          </a:prstGeom>
        </p:spPr>
      </p:pic>
      <p:sp>
        <p:nvSpPr>
          <p:cNvPr id="14" name="箭头: 右 13">
            <a:extLst>
              <a:ext uri="{FF2B5EF4-FFF2-40B4-BE49-F238E27FC236}">
                <a16:creationId xmlns:a16="http://schemas.microsoft.com/office/drawing/2014/main" id="{AB03FB8F-88AA-AEB1-B018-37B3A233D475}"/>
              </a:ext>
            </a:extLst>
          </p:cNvPr>
          <p:cNvSpPr/>
          <p:nvPr/>
        </p:nvSpPr>
        <p:spPr>
          <a:xfrm>
            <a:off x="3225924" y="3448255"/>
            <a:ext cx="2031876" cy="338732"/>
          </a:xfrm>
          <a:prstGeom prst="rightArrow">
            <a:avLst/>
          </a:prstGeom>
          <a:gradFill>
            <a:gsLst>
              <a:gs pos="92000">
                <a:schemeClr val="bg1"/>
              </a:gs>
              <a:gs pos="94000">
                <a:schemeClr val="accent6">
                  <a:lumMod val="105000"/>
                  <a:satMod val="103000"/>
                  <a:tint val="73000"/>
                </a:schemeClr>
              </a:gs>
              <a:gs pos="100000">
                <a:schemeClr val="accent6">
                  <a:lumMod val="105000"/>
                  <a:satMod val="109000"/>
                  <a:tint val="81000"/>
                </a:schemeClr>
              </a:gs>
            </a:gsLst>
          </a:gradFill>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p>
        </p:txBody>
      </p:sp>
      <p:grpSp>
        <p:nvGrpSpPr>
          <p:cNvPr id="18" name="组合 17">
            <a:extLst>
              <a:ext uri="{FF2B5EF4-FFF2-40B4-BE49-F238E27FC236}">
                <a16:creationId xmlns:a16="http://schemas.microsoft.com/office/drawing/2014/main" id="{7CF04D23-D358-07B1-EED4-DA848A089DEF}"/>
              </a:ext>
            </a:extLst>
          </p:cNvPr>
          <p:cNvGrpSpPr/>
          <p:nvPr/>
        </p:nvGrpSpPr>
        <p:grpSpPr>
          <a:xfrm>
            <a:off x="5472127" y="2437401"/>
            <a:ext cx="2151324" cy="2207570"/>
            <a:chOff x="4752989" y="2611959"/>
            <a:chExt cx="2151324" cy="2207570"/>
          </a:xfrm>
        </p:grpSpPr>
        <p:pic>
          <p:nvPicPr>
            <p:cNvPr id="9" name="图片 8">
              <a:extLst>
                <a:ext uri="{FF2B5EF4-FFF2-40B4-BE49-F238E27FC236}">
                  <a16:creationId xmlns:a16="http://schemas.microsoft.com/office/drawing/2014/main" id="{D178F030-A4DF-2C47-642B-91103146DEA1}"/>
                </a:ext>
              </a:extLst>
            </p:cNvPr>
            <p:cNvPicPr>
              <a:picLocks noChangeAspect="1"/>
            </p:cNvPicPr>
            <p:nvPr/>
          </p:nvPicPr>
          <p:blipFill>
            <a:blip r:embed="rId6"/>
            <a:stretch>
              <a:fillRect/>
            </a:stretch>
          </p:blipFill>
          <p:spPr>
            <a:xfrm>
              <a:off x="5416574" y="2611959"/>
              <a:ext cx="846681" cy="846681"/>
            </a:xfrm>
            <a:prstGeom prst="rect">
              <a:avLst/>
            </a:prstGeom>
          </p:spPr>
        </p:pic>
        <p:pic>
          <p:nvPicPr>
            <p:cNvPr id="11" name="图片 10">
              <a:extLst>
                <a:ext uri="{FF2B5EF4-FFF2-40B4-BE49-F238E27FC236}">
                  <a16:creationId xmlns:a16="http://schemas.microsoft.com/office/drawing/2014/main" id="{B73A8E47-A0B3-536E-C976-65636CD996E6}"/>
                </a:ext>
              </a:extLst>
            </p:cNvPr>
            <p:cNvPicPr>
              <a:picLocks noChangeAspect="1"/>
            </p:cNvPicPr>
            <p:nvPr/>
          </p:nvPicPr>
          <p:blipFill>
            <a:blip r:embed="rId7"/>
            <a:stretch>
              <a:fillRect/>
            </a:stretch>
          </p:blipFill>
          <p:spPr>
            <a:xfrm rot="19214426">
              <a:off x="4752989" y="3689232"/>
              <a:ext cx="847723" cy="1130297"/>
            </a:xfrm>
            <a:prstGeom prst="rect">
              <a:avLst/>
            </a:prstGeom>
          </p:spPr>
        </p:pic>
        <p:pic>
          <p:nvPicPr>
            <p:cNvPr id="16" name="图片 15">
              <a:extLst>
                <a:ext uri="{FF2B5EF4-FFF2-40B4-BE49-F238E27FC236}">
                  <a16:creationId xmlns:a16="http://schemas.microsoft.com/office/drawing/2014/main" id="{9C3452C4-4352-7CA5-D93B-F0BBF8974FC5}"/>
                </a:ext>
              </a:extLst>
            </p:cNvPr>
            <p:cNvPicPr>
              <a:picLocks noChangeAspect="1"/>
            </p:cNvPicPr>
            <p:nvPr/>
          </p:nvPicPr>
          <p:blipFill>
            <a:blip r:embed="rId8"/>
            <a:srcRect l="13221" t="12921" r="11871" b="12170"/>
            <a:stretch>
              <a:fillRect/>
            </a:stretch>
          </p:blipFill>
          <p:spPr>
            <a:xfrm>
              <a:off x="5884335" y="3744390"/>
              <a:ext cx="1019978" cy="1019979"/>
            </a:xfrm>
            <a:prstGeom prst="rect">
              <a:avLst/>
            </a:prstGeom>
          </p:spPr>
        </p:pic>
      </p:grpSp>
      <p:sp>
        <p:nvSpPr>
          <p:cNvPr id="19" name="箭头: 右 18">
            <a:extLst>
              <a:ext uri="{FF2B5EF4-FFF2-40B4-BE49-F238E27FC236}">
                <a16:creationId xmlns:a16="http://schemas.microsoft.com/office/drawing/2014/main" id="{7BE19E49-62F2-6D84-40AC-930BB0F16E8A}"/>
              </a:ext>
            </a:extLst>
          </p:cNvPr>
          <p:cNvSpPr/>
          <p:nvPr/>
        </p:nvSpPr>
        <p:spPr>
          <a:xfrm>
            <a:off x="7871520" y="3419634"/>
            <a:ext cx="846681" cy="338732"/>
          </a:xfrm>
          <a:prstGeom prst="rightArrow">
            <a:avLst/>
          </a:prstGeom>
          <a:gradFill>
            <a:gsLst>
              <a:gs pos="92000">
                <a:schemeClr val="bg1"/>
              </a:gs>
              <a:gs pos="94000">
                <a:schemeClr val="accent6">
                  <a:lumMod val="105000"/>
                  <a:satMod val="103000"/>
                  <a:tint val="73000"/>
                </a:schemeClr>
              </a:gs>
              <a:gs pos="100000">
                <a:schemeClr val="accent6">
                  <a:lumMod val="105000"/>
                  <a:satMod val="109000"/>
                  <a:tint val="81000"/>
                </a:schemeClr>
              </a:gs>
            </a:gsLst>
          </a:gradFill>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A9168C74-33E5-004C-95F0-6AEC7E1C0D15}"/>
              </a:ext>
            </a:extLst>
          </p:cNvPr>
          <p:cNvSpPr txBox="1"/>
          <p:nvPr/>
        </p:nvSpPr>
        <p:spPr>
          <a:xfrm>
            <a:off x="3687935" y="3162708"/>
            <a:ext cx="1069162" cy="338554"/>
          </a:xfrm>
          <a:prstGeom prst="rect">
            <a:avLst/>
          </a:prstGeom>
          <a:noFill/>
        </p:spPr>
        <p:txBody>
          <a:bodyPr wrap="square" rtlCol="0">
            <a:spAutoFit/>
          </a:bodyPr>
          <a:lstStyle/>
          <a:p>
            <a:r>
              <a:rPr lang="en-US" altLang="zh-CN" sz="1600" b="1" dirty="0"/>
              <a:t>Collect</a:t>
            </a:r>
            <a:endParaRPr lang="zh-CN" altLang="en-US" b="1" dirty="0"/>
          </a:p>
        </p:txBody>
      </p:sp>
      <p:sp>
        <p:nvSpPr>
          <p:cNvPr id="21" name="文本框 20">
            <a:extLst>
              <a:ext uri="{FF2B5EF4-FFF2-40B4-BE49-F238E27FC236}">
                <a16:creationId xmlns:a16="http://schemas.microsoft.com/office/drawing/2014/main" id="{4E6DCDE5-7279-76FA-FF05-3F521D22D46A}"/>
              </a:ext>
            </a:extLst>
          </p:cNvPr>
          <p:cNvSpPr txBox="1"/>
          <p:nvPr/>
        </p:nvSpPr>
        <p:spPr>
          <a:xfrm>
            <a:off x="7822772" y="3040233"/>
            <a:ext cx="1019977" cy="338554"/>
          </a:xfrm>
          <a:prstGeom prst="rect">
            <a:avLst/>
          </a:prstGeom>
          <a:noFill/>
        </p:spPr>
        <p:txBody>
          <a:bodyPr wrap="square" rtlCol="0">
            <a:spAutoFit/>
          </a:bodyPr>
          <a:lstStyle/>
          <a:p>
            <a:r>
              <a:rPr lang="en-US" altLang="zh-CN" sz="1600" b="1" dirty="0"/>
              <a:t>Upload</a:t>
            </a:r>
            <a:endParaRPr lang="zh-CN" altLang="en-US" b="1" dirty="0"/>
          </a:p>
        </p:txBody>
      </p:sp>
      <p:sp>
        <p:nvSpPr>
          <p:cNvPr id="22" name="文本框 21">
            <a:extLst>
              <a:ext uri="{FF2B5EF4-FFF2-40B4-BE49-F238E27FC236}">
                <a16:creationId xmlns:a16="http://schemas.microsoft.com/office/drawing/2014/main" id="{7689FEC9-FC2C-F6A4-4E0E-81AB5277170C}"/>
              </a:ext>
            </a:extLst>
          </p:cNvPr>
          <p:cNvSpPr txBox="1"/>
          <p:nvPr/>
        </p:nvSpPr>
        <p:spPr>
          <a:xfrm>
            <a:off x="5895988" y="4826207"/>
            <a:ext cx="2063623" cy="338554"/>
          </a:xfrm>
          <a:prstGeom prst="rect">
            <a:avLst/>
          </a:prstGeom>
          <a:noFill/>
        </p:spPr>
        <p:txBody>
          <a:bodyPr wrap="square" rtlCol="0">
            <a:spAutoFit/>
          </a:bodyPr>
          <a:lstStyle/>
          <a:p>
            <a:r>
              <a:rPr lang="en-US" altLang="zh-CN" sz="1600" b="1" dirty="0"/>
              <a:t>RGB images</a:t>
            </a:r>
            <a:endParaRPr lang="zh-CN" altLang="en-US" b="1" dirty="0"/>
          </a:p>
        </p:txBody>
      </p:sp>
    </p:spTree>
    <p:extLst>
      <p:ext uri="{BB962C8B-B14F-4D97-AF65-F5344CB8AC3E}">
        <p14:creationId xmlns:p14="http://schemas.microsoft.com/office/powerpoint/2010/main" val="228336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5683AB-3684-5EEA-AE83-807B575EA3E1}"/>
              </a:ext>
            </a:extLst>
          </p:cNvPr>
          <p:cNvSpPr>
            <a:spLocks noGrp="1"/>
          </p:cNvSpPr>
          <p:nvPr>
            <p:ph type="title"/>
          </p:nvPr>
        </p:nvSpPr>
        <p:spPr/>
        <p:txBody>
          <a:bodyPr/>
          <a:lstStyle/>
          <a:p>
            <a:r>
              <a:rPr lang="en-US" altLang="zh-CN" dirty="0">
                <a:latin typeface="Calibri" panose="020F0502020204030204" pitchFamily="34" charset="0"/>
                <a:ea typeface="Calibri" panose="020F0502020204030204" pitchFamily="34" charset="0"/>
                <a:cs typeface="Calibri" panose="020F0502020204030204" pitchFamily="34" charset="0"/>
              </a:rPr>
              <a:t>3. Data Engineering &amp; Rigorous Partitioning</a:t>
            </a:r>
            <a:endParaRPr lang="zh-CN" altLang="en-US" dirty="0"/>
          </a:p>
        </p:txBody>
      </p:sp>
      <p:sp>
        <p:nvSpPr>
          <p:cNvPr id="3" name="内容占位符 2">
            <a:extLst>
              <a:ext uri="{FF2B5EF4-FFF2-40B4-BE49-F238E27FC236}">
                <a16:creationId xmlns:a16="http://schemas.microsoft.com/office/drawing/2014/main" id="{10E86496-D6F2-D5B3-BCDC-F52B028A11B6}"/>
              </a:ext>
            </a:extLst>
          </p:cNvPr>
          <p:cNvSpPr>
            <a:spLocks noGrp="1"/>
          </p:cNvSpPr>
          <p:nvPr>
            <p:ph idx="1"/>
          </p:nvPr>
        </p:nvSpPr>
        <p:spPr/>
        <p:txBody>
          <a:bodyPr/>
          <a:lstStyle/>
          <a:p>
            <a:pPr marL="285750" indent="-285750">
              <a:buFont typeface="Wingdings" panose="05000000000000000000" pitchFamily="2" charset="2"/>
              <a:buChar char="Ø"/>
            </a:pPr>
            <a:r>
              <a:rPr lang="en-US" altLang="zh-CN" sz="1800" b="1" dirty="0"/>
              <a:t>Dataset Characteristics:</a:t>
            </a:r>
          </a:p>
          <a:p>
            <a:pPr marL="457200" lvl="1" indent="0">
              <a:buNone/>
            </a:pPr>
            <a:r>
              <a:rPr lang="en-US" altLang="zh-CN" sz="1600" b="1" dirty="0"/>
              <a:t>Data Source</a:t>
            </a:r>
            <a:r>
              <a:rPr lang="en-US" altLang="zh-CN" sz="1600" dirty="0"/>
              <a:t>: Mendeley Data Repository (Open-source, Expert-labeled).</a:t>
            </a:r>
          </a:p>
          <a:p>
            <a:pPr>
              <a:buFont typeface="Wingdings" panose="05000000000000000000" pitchFamily="2" charset="2"/>
              <a:buChar char="Ø"/>
            </a:pPr>
            <a:r>
              <a:rPr lang="en-US" altLang="zh-CN" sz="1800" b="1" dirty="0"/>
              <a:t>Image Format:</a:t>
            </a:r>
            <a:endParaRPr lang="en-US" altLang="zh-CN" sz="1800" dirty="0"/>
          </a:p>
          <a:p>
            <a:pPr marL="457200" lvl="1" indent="0">
              <a:buNone/>
            </a:pPr>
            <a:r>
              <a:rPr lang="en-US" altLang="zh-CN" sz="1600" dirty="0"/>
              <a:t>RGB Images.</a:t>
            </a:r>
          </a:p>
          <a:p>
            <a:pPr>
              <a:buFont typeface="Wingdings" panose="05000000000000000000" pitchFamily="2" charset="2"/>
              <a:buChar char="Ø"/>
            </a:pPr>
            <a:r>
              <a:rPr lang="en-US" altLang="zh-CN" sz="1800" b="1" dirty="0"/>
              <a:t>Species Diversity:</a:t>
            </a:r>
          </a:p>
          <a:p>
            <a:pPr marL="457200" lvl="1" indent="0">
              <a:buNone/>
            </a:pPr>
            <a:r>
              <a:rPr lang="en-US" altLang="zh-CN" sz="1600" dirty="0"/>
              <a:t>Comprises 8 distinct crop species (e.g., Chilli, Guava, Jackfruit, etc.).</a:t>
            </a:r>
            <a:endParaRPr lang="en-US" altLang="zh-CN" sz="1600" b="1" dirty="0"/>
          </a:p>
          <a:p>
            <a:pPr>
              <a:buFont typeface="Wingdings" panose="05000000000000000000" pitchFamily="2" charset="2"/>
              <a:buChar char="Ø"/>
            </a:pPr>
            <a:r>
              <a:rPr lang="en-US" altLang="zh-CN" sz="1800" b="1" dirty="0"/>
              <a:t>Background Complexity:</a:t>
            </a:r>
          </a:p>
          <a:p>
            <a:pPr marL="457200" lvl="1" indent="0" fontAlgn="base">
              <a:spcAft>
                <a:spcPct val="0"/>
              </a:spcAft>
              <a:buNone/>
            </a:pPr>
            <a:r>
              <a:rPr lang="zh-CN" altLang="zh-CN" sz="1600" b="1" dirty="0"/>
              <a:t>Controlled Environment: </a:t>
            </a:r>
            <a:r>
              <a:rPr lang="zh-CN" altLang="zh-CN" sz="1600" dirty="0"/>
              <a:t>Uniform/Solid backgrounds for pure feature learning.</a:t>
            </a:r>
          </a:p>
          <a:p>
            <a:pPr marL="457200" lvl="1" indent="0" fontAlgn="base">
              <a:spcAft>
                <a:spcPct val="0"/>
              </a:spcAft>
              <a:buNone/>
            </a:pPr>
            <a:r>
              <a:rPr lang="zh-CN" altLang="zh-CN" sz="1600" b="1" dirty="0"/>
              <a:t>In-field Scenarios: </a:t>
            </a:r>
            <a:r>
              <a:rPr lang="zh-CN" altLang="zh-CN" sz="1600" dirty="0"/>
              <a:t>Real-world field backgrounds with soil, weeds, and varying light.</a:t>
            </a:r>
            <a:r>
              <a:rPr lang="en-US" altLang="zh-CN" sz="1800" b="1" dirty="0"/>
              <a:t>	</a:t>
            </a:r>
            <a:endParaRPr lang="zh-CN" altLang="en-US" sz="1800" b="1" dirty="0"/>
          </a:p>
        </p:txBody>
      </p:sp>
      <p:pic>
        <p:nvPicPr>
          <p:cNvPr id="5" name="图片 4" descr="徽标&#10;&#10;AI 生成的内容可能不正确。">
            <a:extLst>
              <a:ext uri="{FF2B5EF4-FFF2-40B4-BE49-F238E27FC236}">
                <a16:creationId xmlns:a16="http://schemas.microsoft.com/office/drawing/2014/main" id="{7BE22E75-5FA4-CFF5-6F0D-E3F660E7A834}"/>
              </a:ext>
            </a:extLst>
          </p:cNvPr>
          <p:cNvPicPr>
            <a:picLocks noChangeAspect="1"/>
          </p:cNvPicPr>
          <p:nvPr/>
        </p:nvPicPr>
        <p:blipFill>
          <a:blip r:embed="rId3"/>
          <a:stretch>
            <a:fillRect/>
          </a:stretch>
        </p:blipFill>
        <p:spPr>
          <a:xfrm>
            <a:off x="8686802" y="1489393"/>
            <a:ext cx="2390474" cy="571428"/>
          </a:xfrm>
          <a:prstGeom prst="rect">
            <a:avLst/>
          </a:prstGeom>
        </p:spPr>
      </p:pic>
      <p:pic>
        <p:nvPicPr>
          <p:cNvPr id="8" name="内容占位符 4" descr="文本&#10;&#10;AI 生成的内容可能不正确。">
            <a:extLst>
              <a:ext uri="{FF2B5EF4-FFF2-40B4-BE49-F238E27FC236}">
                <a16:creationId xmlns:a16="http://schemas.microsoft.com/office/drawing/2014/main" id="{DE36FCDB-6064-4A98-C8A1-F3F10F1B1B6D}"/>
              </a:ext>
            </a:extLst>
          </p:cNvPr>
          <p:cNvPicPr>
            <a:picLocks noChangeAspect="1"/>
          </p:cNvPicPr>
          <p:nvPr/>
        </p:nvPicPr>
        <p:blipFill>
          <a:blip r:embed="rId4"/>
          <a:stretch>
            <a:fillRect/>
          </a:stretch>
        </p:blipFill>
        <p:spPr>
          <a:xfrm>
            <a:off x="9343097" y="2889250"/>
            <a:ext cx="1492284" cy="2531357"/>
          </a:xfrm>
          <a:prstGeom prst="rect">
            <a:avLst/>
          </a:prstGeom>
        </p:spPr>
      </p:pic>
    </p:spTree>
    <p:extLst>
      <p:ext uri="{BB962C8B-B14F-4D97-AF65-F5344CB8AC3E}">
        <p14:creationId xmlns:p14="http://schemas.microsoft.com/office/powerpoint/2010/main" val="2802300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866CDB-380A-5710-FC1E-E0A35DFB8406}"/>
              </a:ext>
            </a:extLst>
          </p:cNvPr>
          <p:cNvSpPr>
            <a:spLocks noGrp="1"/>
          </p:cNvSpPr>
          <p:nvPr>
            <p:ph type="title"/>
          </p:nvPr>
        </p:nvSpPr>
        <p:spPr/>
        <p:txBody>
          <a:bodyPr/>
          <a:lstStyle/>
          <a:p>
            <a:r>
              <a:rPr lang="en-US" altLang="zh-CN" dirty="0">
                <a:latin typeface="Calibri" panose="020F0502020204030204" pitchFamily="34" charset="0"/>
                <a:ea typeface="Calibri" panose="020F0502020204030204" pitchFamily="34" charset="0"/>
                <a:cs typeface="Calibri" panose="020F0502020204030204" pitchFamily="34" charset="0"/>
              </a:rPr>
              <a:t>3. Data Engineering &amp; Rigorous Partitioning</a:t>
            </a:r>
            <a:endParaRPr lang="zh-CN" altLang="en-US" dirty="0"/>
          </a:p>
        </p:txBody>
      </p:sp>
      <p:sp>
        <p:nvSpPr>
          <p:cNvPr id="11" name="文本框 10">
            <a:extLst>
              <a:ext uri="{FF2B5EF4-FFF2-40B4-BE49-F238E27FC236}">
                <a16:creationId xmlns:a16="http://schemas.microsoft.com/office/drawing/2014/main" id="{EE632A34-AAA0-72C1-8730-440D689052D5}"/>
              </a:ext>
            </a:extLst>
          </p:cNvPr>
          <p:cNvSpPr txBox="1"/>
          <p:nvPr/>
        </p:nvSpPr>
        <p:spPr>
          <a:xfrm>
            <a:off x="393700" y="1488986"/>
            <a:ext cx="11207750" cy="2360646"/>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t>Binary Classification Logic</a:t>
            </a:r>
            <a:r>
              <a:rPr lang="en-US" altLang="zh-CN" dirty="0"/>
              <a:t>:</a:t>
            </a:r>
          </a:p>
          <a:p>
            <a:pPr lvl="1" defTabSz="914400">
              <a:lnSpc>
                <a:spcPct val="90000"/>
              </a:lnSpc>
              <a:spcBef>
                <a:spcPts val="500"/>
              </a:spcBef>
            </a:pPr>
            <a:r>
              <a:rPr lang="en-US" altLang="zh-CN" sz="1600" b="1" dirty="0"/>
              <a:t>Biotic Class: </a:t>
            </a:r>
          </a:p>
          <a:p>
            <a:pPr lvl="1" defTabSz="914400">
              <a:lnSpc>
                <a:spcPct val="90000"/>
              </a:lnSpc>
              <a:spcBef>
                <a:spcPts val="500"/>
              </a:spcBef>
            </a:pPr>
            <a:r>
              <a:rPr lang="en-US" altLang="zh-CN" sz="1600" dirty="0"/>
              <a:t>	Pathogen-driven: Fungal rusts, bacterial blights, and viral spots.</a:t>
            </a:r>
          </a:p>
          <a:p>
            <a:pPr lvl="1" defTabSz="914400">
              <a:lnSpc>
                <a:spcPct val="90000"/>
              </a:lnSpc>
              <a:spcBef>
                <a:spcPts val="500"/>
              </a:spcBef>
            </a:pPr>
            <a:r>
              <a:rPr lang="en-US" altLang="zh-CN" sz="1600" b="1" dirty="0"/>
              <a:t>Abiotic Class: </a:t>
            </a:r>
          </a:p>
          <a:p>
            <a:pPr lvl="1" defTabSz="914400">
              <a:lnSpc>
                <a:spcPct val="90000"/>
              </a:lnSpc>
              <a:spcBef>
                <a:spcPts val="500"/>
              </a:spcBef>
            </a:pPr>
            <a:r>
              <a:rPr lang="en-US" altLang="zh-CN" sz="1600" dirty="0"/>
              <a:t>	Environment-driven: Nutrient deficiencies (N-P-K), drought, and herbicide burn.</a:t>
            </a:r>
          </a:p>
          <a:p>
            <a:pPr lvl="1" defTabSz="914400">
              <a:lnSpc>
                <a:spcPct val="90000"/>
              </a:lnSpc>
              <a:spcBef>
                <a:spcPts val="500"/>
              </a:spcBef>
            </a:pPr>
            <a:endParaRPr lang="en-US" altLang="zh-CN" sz="1600" b="1" dirty="0"/>
          </a:p>
          <a:p>
            <a:pPr marL="285750" indent="-285750">
              <a:buFont typeface="Wingdings" panose="05000000000000000000" pitchFamily="2" charset="2"/>
              <a:buChar char="Ø"/>
            </a:pPr>
            <a:r>
              <a:rPr lang="en-US" altLang="zh-CN" b="1" dirty="0"/>
              <a:t>The "Order-based" Sequential Split (80/20)</a:t>
            </a:r>
            <a:r>
              <a:rPr lang="en-US" altLang="zh-CN" dirty="0"/>
              <a:t>:</a:t>
            </a:r>
          </a:p>
          <a:p>
            <a:pPr lvl="1" defTabSz="914400">
              <a:lnSpc>
                <a:spcPct val="90000"/>
              </a:lnSpc>
              <a:spcBef>
                <a:spcPts val="500"/>
              </a:spcBef>
            </a:pPr>
            <a:r>
              <a:rPr lang="en-US" altLang="zh-CN" sz="1600" dirty="0"/>
              <a:t>To prevent Data Leakage from augmented clusters, images are split sequentially within each sub-folder</a:t>
            </a:r>
          </a:p>
        </p:txBody>
      </p:sp>
    </p:spTree>
    <p:extLst>
      <p:ext uri="{BB962C8B-B14F-4D97-AF65-F5344CB8AC3E}">
        <p14:creationId xmlns:p14="http://schemas.microsoft.com/office/powerpoint/2010/main" val="3719559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185EF3-E3E1-F92F-21CC-D53E74CD02B1}"/>
              </a:ext>
            </a:extLst>
          </p:cNvPr>
          <p:cNvSpPr>
            <a:spLocks noGrp="1"/>
          </p:cNvSpPr>
          <p:nvPr>
            <p:ph type="title"/>
          </p:nvPr>
        </p:nvSpPr>
        <p:spPr/>
        <p:txBody>
          <a:bodyPr/>
          <a:lstStyle/>
          <a:p>
            <a:r>
              <a:rPr lang="en-US" altLang="zh-CN" dirty="0"/>
              <a:t>4. Stage 1 - Single Crop Baseline (Phase 1: Binary &amp; 6-Class)</a:t>
            </a:r>
            <a:endParaRPr lang="zh-CN" altLang="en-US" dirty="0"/>
          </a:p>
        </p:txBody>
      </p:sp>
      <p:pic>
        <p:nvPicPr>
          <p:cNvPr id="5" name="内容占位符 4">
            <a:extLst>
              <a:ext uri="{FF2B5EF4-FFF2-40B4-BE49-F238E27FC236}">
                <a16:creationId xmlns:a16="http://schemas.microsoft.com/office/drawing/2014/main" id="{79C20EA5-A6AA-2361-DB16-FE8F31F958CF}"/>
              </a:ext>
            </a:extLst>
          </p:cNvPr>
          <p:cNvPicPr>
            <a:picLocks noGrp="1" noChangeAspect="1"/>
          </p:cNvPicPr>
          <p:nvPr>
            <p:ph idx="1"/>
          </p:nvPr>
        </p:nvPicPr>
        <p:blipFill>
          <a:blip r:embed="rId3"/>
          <a:stretch>
            <a:fillRect/>
          </a:stretch>
        </p:blipFill>
        <p:spPr>
          <a:xfrm>
            <a:off x="441960" y="1514475"/>
            <a:ext cx="5801784" cy="4351338"/>
          </a:xfrm>
        </p:spPr>
      </p:pic>
      <p:pic>
        <p:nvPicPr>
          <p:cNvPr id="7" name="图片 6">
            <a:extLst>
              <a:ext uri="{FF2B5EF4-FFF2-40B4-BE49-F238E27FC236}">
                <a16:creationId xmlns:a16="http://schemas.microsoft.com/office/drawing/2014/main" id="{C36816E5-AF82-9654-2155-975F0EC9EF0C}"/>
              </a:ext>
            </a:extLst>
          </p:cNvPr>
          <p:cNvPicPr>
            <a:picLocks noChangeAspect="1"/>
          </p:cNvPicPr>
          <p:nvPr/>
        </p:nvPicPr>
        <p:blipFill>
          <a:blip r:embed="rId4"/>
          <a:srcRect t="10660" r="6135"/>
          <a:stretch>
            <a:fillRect/>
          </a:stretch>
        </p:blipFill>
        <p:spPr>
          <a:xfrm>
            <a:off x="6821633" y="1855320"/>
            <a:ext cx="4137314" cy="2953395"/>
          </a:xfrm>
          <a:prstGeom prst="rect">
            <a:avLst/>
          </a:prstGeom>
        </p:spPr>
      </p:pic>
    </p:spTree>
    <p:extLst>
      <p:ext uri="{BB962C8B-B14F-4D97-AF65-F5344CB8AC3E}">
        <p14:creationId xmlns:p14="http://schemas.microsoft.com/office/powerpoint/2010/main" val="796717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D9D23B-1724-8D65-BD09-A97F90AAA54E}"/>
              </a:ext>
            </a:extLst>
          </p:cNvPr>
          <p:cNvSpPr>
            <a:spLocks noGrp="1"/>
          </p:cNvSpPr>
          <p:nvPr>
            <p:ph type="title"/>
          </p:nvPr>
        </p:nvSpPr>
        <p:spPr>
          <a:xfrm>
            <a:off x="441960" y="136526"/>
            <a:ext cx="11651774" cy="880744"/>
          </a:xfrm>
        </p:spPr>
        <p:txBody>
          <a:bodyPr/>
          <a:lstStyle/>
          <a:p>
            <a:r>
              <a:rPr lang="en-US" altLang="zh-CN" dirty="0"/>
              <a:t>4. Stage 2 - Multi-Crop Generalization (Phase 2: Universal Training)</a:t>
            </a:r>
            <a:endParaRPr lang="zh-CN" altLang="en-US" dirty="0"/>
          </a:p>
        </p:txBody>
      </p:sp>
      <p:pic>
        <p:nvPicPr>
          <p:cNvPr id="7" name="图片 6">
            <a:extLst>
              <a:ext uri="{FF2B5EF4-FFF2-40B4-BE49-F238E27FC236}">
                <a16:creationId xmlns:a16="http://schemas.microsoft.com/office/drawing/2014/main" id="{44995C3C-F6B4-7103-8ACE-DB63019184B2}"/>
              </a:ext>
            </a:extLst>
          </p:cNvPr>
          <p:cNvPicPr>
            <a:picLocks noChangeAspect="1"/>
          </p:cNvPicPr>
          <p:nvPr/>
        </p:nvPicPr>
        <p:blipFill>
          <a:blip r:embed="rId3"/>
          <a:stretch>
            <a:fillRect/>
          </a:stretch>
        </p:blipFill>
        <p:spPr>
          <a:xfrm>
            <a:off x="173195" y="1413090"/>
            <a:ext cx="5849303" cy="4679442"/>
          </a:xfrm>
          <a:prstGeom prst="rect">
            <a:avLst/>
          </a:prstGeom>
        </p:spPr>
      </p:pic>
      <p:pic>
        <p:nvPicPr>
          <p:cNvPr id="12" name="图片 11">
            <a:extLst>
              <a:ext uri="{FF2B5EF4-FFF2-40B4-BE49-F238E27FC236}">
                <a16:creationId xmlns:a16="http://schemas.microsoft.com/office/drawing/2014/main" id="{C3963CB8-B6FF-C7FB-D65D-6A6A33909707}"/>
              </a:ext>
            </a:extLst>
          </p:cNvPr>
          <p:cNvPicPr>
            <a:picLocks noChangeAspect="1"/>
          </p:cNvPicPr>
          <p:nvPr/>
        </p:nvPicPr>
        <p:blipFill>
          <a:blip r:embed="rId4"/>
          <a:stretch>
            <a:fillRect/>
          </a:stretch>
        </p:blipFill>
        <p:spPr>
          <a:xfrm>
            <a:off x="6532394" y="1346195"/>
            <a:ext cx="5486411" cy="4572009"/>
          </a:xfrm>
          <a:prstGeom prst="rect">
            <a:avLst/>
          </a:prstGeom>
        </p:spPr>
      </p:pic>
    </p:spTree>
    <p:extLst>
      <p:ext uri="{BB962C8B-B14F-4D97-AF65-F5344CB8AC3E}">
        <p14:creationId xmlns:p14="http://schemas.microsoft.com/office/powerpoint/2010/main" val="36593371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4B8ED7-3062-F81A-1FAC-9AE999A1A49D}"/>
              </a:ext>
            </a:extLst>
          </p:cNvPr>
          <p:cNvSpPr>
            <a:spLocks noGrp="1"/>
          </p:cNvSpPr>
          <p:nvPr>
            <p:ph type="title"/>
          </p:nvPr>
        </p:nvSpPr>
        <p:spPr/>
        <p:txBody>
          <a:bodyPr/>
          <a:lstStyle/>
          <a:p>
            <a:r>
              <a:rPr lang="en-US" altLang="zh-CN" dirty="0"/>
              <a:t>4. Explainable AI (XAI) - Grad-CAM Visual Diagnosis</a:t>
            </a:r>
            <a:endParaRPr lang="zh-CN" altLang="en-US" dirty="0"/>
          </a:p>
        </p:txBody>
      </p:sp>
      <p:pic>
        <p:nvPicPr>
          <p:cNvPr id="7" name="图片 6">
            <a:extLst>
              <a:ext uri="{FF2B5EF4-FFF2-40B4-BE49-F238E27FC236}">
                <a16:creationId xmlns:a16="http://schemas.microsoft.com/office/drawing/2014/main" id="{B7973DF6-840F-ED7F-ECBF-75E9AB23E789}"/>
              </a:ext>
            </a:extLst>
          </p:cNvPr>
          <p:cNvPicPr>
            <a:picLocks noChangeAspect="1"/>
          </p:cNvPicPr>
          <p:nvPr/>
        </p:nvPicPr>
        <p:blipFill>
          <a:blip r:embed="rId3"/>
          <a:stretch>
            <a:fillRect/>
          </a:stretch>
        </p:blipFill>
        <p:spPr>
          <a:xfrm>
            <a:off x="1130299" y="3766569"/>
            <a:ext cx="9036051" cy="2143659"/>
          </a:xfrm>
          <a:prstGeom prst="rect">
            <a:avLst/>
          </a:prstGeom>
        </p:spPr>
      </p:pic>
      <p:pic>
        <p:nvPicPr>
          <p:cNvPr id="11" name="内容占位符 10">
            <a:extLst>
              <a:ext uri="{FF2B5EF4-FFF2-40B4-BE49-F238E27FC236}">
                <a16:creationId xmlns:a16="http://schemas.microsoft.com/office/drawing/2014/main" id="{50C9909D-ECBF-973E-0D74-AC9CF3CE8F7C}"/>
              </a:ext>
            </a:extLst>
          </p:cNvPr>
          <p:cNvPicPr>
            <a:picLocks noGrp="1" noChangeAspect="1"/>
          </p:cNvPicPr>
          <p:nvPr>
            <p:ph idx="1"/>
          </p:nvPr>
        </p:nvPicPr>
        <p:blipFill>
          <a:blip r:embed="rId4"/>
          <a:stretch>
            <a:fillRect/>
          </a:stretch>
        </p:blipFill>
        <p:spPr>
          <a:xfrm>
            <a:off x="1130298" y="1409305"/>
            <a:ext cx="9036052" cy="2143659"/>
          </a:xfrm>
        </p:spPr>
      </p:pic>
    </p:spTree>
    <p:extLst>
      <p:ext uri="{BB962C8B-B14F-4D97-AF65-F5344CB8AC3E}">
        <p14:creationId xmlns:p14="http://schemas.microsoft.com/office/powerpoint/2010/main" val="133970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AA8826-6B2B-5B02-043B-3418C8D764D3}"/>
              </a:ext>
            </a:extLst>
          </p:cNvPr>
          <p:cNvSpPr>
            <a:spLocks noGrp="1"/>
          </p:cNvSpPr>
          <p:nvPr>
            <p:ph type="title"/>
          </p:nvPr>
        </p:nvSpPr>
        <p:spPr/>
        <p:txBody>
          <a:bodyPr/>
          <a:lstStyle/>
          <a:p>
            <a:r>
              <a:rPr lang="en-US" altLang="zh-CN" dirty="0"/>
              <a:t>5. Limitations &amp; Future Work</a:t>
            </a:r>
            <a:endParaRPr lang="zh-CN" altLang="en-US" dirty="0"/>
          </a:p>
        </p:txBody>
      </p:sp>
      <p:sp>
        <p:nvSpPr>
          <p:cNvPr id="3" name="内容占位符 2">
            <a:extLst>
              <a:ext uri="{FF2B5EF4-FFF2-40B4-BE49-F238E27FC236}">
                <a16:creationId xmlns:a16="http://schemas.microsoft.com/office/drawing/2014/main" id="{D22AE49B-80E4-A6DC-EDD0-CB9C71494987}"/>
              </a:ext>
            </a:extLst>
          </p:cNvPr>
          <p:cNvSpPr>
            <a:spLocks noGrp="1"/>
          </p:cNvSpPr>
          <p:nvPr>
            <p:ph idx="1"/>
          </p:nvPr>
        </p:nvSpPr>
        <p:spPr/>
        <p:txBody>
          <a:bodyPr/>
          <a:lstStyle/>
          <a:p>
            <a:pPr marL="285750" indent="-285750">
              <a:buFont typeface="Wingdings" panose="05000000000000000000" pitchFamily="2" charset="2"/>
              <a:buChar char="Ø"/>
            </a:pPr>
            <a:endParaRPr lang="en-US" altLang="zh-CN" sz="1800" b="1" dirty="0"/>
          </a:p>
          <a:p>
            <a:pPr marL="285750" indent="-285750">
              <a:buFont typeface="Wingdings" panose="05000000000000000000" pitchFamily="2" charset="2"/>
              <a:buChar char="Ø"/>
            </a:pPr>
            <a:r>
              <a:rPr lang="en-US" altLang="zh-CN" sz="1800" b="1" dirty="0"/>
              <a:t>Conclusion</a:t>
            </a:r>
          </a:p>
          <a:p>
            <a:pPr marL="457200" lvl="1" indent="0">
              <a:buNone/>
            </a:pPr>
            <a:r>
              <a:rPr lang="en-US" altLang="zh-CN" sz="1600" dirty="0"/>
              <a:t>This study validates the high performance of the </a:t>
            </a:r>
            <a:r>
              <a:rPr lang="en-US" altLang="zh-CN" sz="1600" b="1" dirty="0"/>
              <a:t>Epoch 12 </a:t>
            </a:r>
            <a:r>
              <a:rPr lang="en-US" altLang="zh-CN" sz="1600" b="1" dirty="0" err="1"/>
              <a:t>ResNet</a:t>
            </a:r>
            <a:r>
              <a:rPr lang="en-US" altLang="zh-CN" sz="1600" dirty="0"/>
              <a:t> architecture. With a </a:t>
            </a:r>
            <a:r>
              <a:rPr lang="en-US" altLang="zh-CN" sz="1600" b="1" dirty="0"/>
              <a:t>95% accuracy rate</a:t>
            </a:r>
            <a:r>
              <a:rPr lang="en-US" altLang="zh-CN" sz="1600" dirty="0"/>
              <a:t>, the system demonstrates reliable diagnostic potential. Crucially, </a:t>
            </a:r>
            <a:r>
              <a:rPr lang="en-US" altLang="zh-CN" sz="1600" b="1" dirty="0"/>
              <a:t>Grad-CAM visualization</a:t>
            </a:r>
            <a:r>
              <a:rPr lang="en-US" altLang="zh-CN" sz="1600" dirty="0"/>
              <a:t> provides explainability, confirming that the model’s decisions are based on actual pathological lesions rather than random noise.</a:t>
            </a:r>
            <a:endParaRPr lang="en-US" altLang="zh-CN" sz="1600" b="1" dirty="0"/>
          </a:p>
          <a:p>
            <a:pPr>
              <a:buFont typeface="Wingdings" panose="05000000000000000000" pitchFamily="2" charset="2"/>
              <a:buChar char="Ø"/>
            </a:pPr>
            <a:r>
              <a:rPr lang="en-US" altLang="zh-CN" sz="1800" b="1" dirty="0"/>
              <a:t> Dataset Imbalance</a:t>
            </a:r>
          </a:p>
          <a:p>
            <a:pPr marL="457200" lvl="1" indent="0">
              <a:buNone/>
            </a:pPr>
            <a:r>
              <a:rPr lang="en-US" altLang="zh-CN" sz="1600" dirty="0"/>
              <a:t>Although the model performs well, the raw data distribution between Biotic and Abiotic classes is imbalanced</a:t>
            </a:r>
          </a:p>
          <a:p>
            <a:pPr marL="285750" indent="-285750">
              <a:buFont typeface="Wingdings" panose="05000000000000000000" pitchFamily="2" charset="2"/>
              <a:buChar char="Ø"/>
            </a:pPr>
            <a:r>
              <a:rPr lang="en-US" altLang="zh-CN" sz="1800" b="1" dirty="0"/>
              <a:t>Background Robustness vs. Complexity </a:t>
            </a:r>
          </a:p>
          <a:p>
            <a:pPr marL="457200" lvl="1" indent="0">
              <a:buNone/>
            </a:pPr>
            <a:r>
              <a:rPr lang="en-US" altLang="zh-CN" sz="1600" dirty="0"/>
              <a:t>The current dataset backgrounds are overly "stable" (clean or relatively consistent).</a:t>
            </a:r>
            <a:endParaRPr lang="zh-CN" altLang="en-US" sz="1600" dirty="0"/>
          </a:p>
        </p:txBody>
      </p:sp>
    </p:spTree>
    <p:extLst>
      <p:ext uri="{BB962C8B-B14F-4D97-AF65-F5344CB8AC3E}">
        <p14:creationId xmlns:p14="http://schemas.microsoft.com/office/powerpoint/2010/main" val="24788458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F906BD-982C-FD2F-4916-CE80A443ACB4}"/>
              </a:ext>
            </a:extLst>
          </p:cNvPr>
          <p:cNvSpPr>
            <a:spLocks noGrp="1"/>
          </p:cNvSpPr>
          <p:nvPr>
            <p:ph type="title"/>
          </p:nvPr>
        </p:nvSpPr>
        <p:spPr/>
        <p:txBody>
          <a:bodyPr/>
          <a:lstStyle/>
          <a:p>
            <a:r>
              <a:rPr lang="en-US" altLang="zh-CN" dirty="0"/>
              <a:t>References</a:t>
            </a:r>
            <a:endParaRPr lang="zh-CN" altLang="en-US" dirty="0"/>
          </a:p>
        </p:txBody>
      </p:sp>
      <p:sp>
        <p:nvSpPr>
          <p:cNvPr id="3" name="内容占位符 2">
            <a:extLst>
              <a:ext uri="{FF2B5EF4-FFF2-40B4-BE49-F238E27FC236}">
                <a16:creationId xmlns:a16="http://schemas.microsoft.com/office/drawing/2014/main" id="{CEE2D905-F074-4DCA-A21F-FC8143B9386C}"/>
              </a:ext>
            </a:extLst>
          </p:cNvPr>
          <p:cNvSpPr>
            <a:spLocks noGrp="1"/>
          </p:cNvSpPr>
          <p:nvPr>
            <p:ph idx="1"/>
          </p:nvPr>
        </p:nvSpPr>
        <p:spPr/>
        <p:txBody>
          <a:bodyPr/>
          <a:lstStyle/>
          <a:p>
            <a:r>
              <a:rPr lang="en-US" altLang="zh-CN" sz="1400" dirty="0"/>
              <a:t>[1]. </a:t>
            </a:r>
            <a:r>
              <a:rPr lang="en-US" altLang="zh-CN" sz="1400" dirty="0" err="1"/>
              <a:t>Cattivelli</a:t>
            </a:r>
            <a:r>
              <a:rPr lang="en-US" altLang="zh-CN" sz="1400" dirty="0"/>
              <a:t>, L.; Rizza, F.; </a:t>
            </a:r>
            <a:r>
              <a:rPr lang="en-US" altLang="zh-CN" sz="1400" dirty="0" err="1"/>
              <a:t>Badeck</a:t>
            </a:r>
            <a:r>
              <a:rPr lang="en-US" altLang="zh-CN" sz="1400" dirty="0"/>
              <a:t>, F.W.; </a:t>
            </a:r>
            <a:r>
              <a:rPr lang="en-US" altLang="zh-CN" sz="1400" dirty="0" err="1"/>
              <a:t>Mazzucotelli</a:t>
            </a:r>
            <a:r>
              <a:rPr lang="en-US" altLang="zh-CN" sz="1400" dirty="0"/>
              <a:t>, E.; Mastrangelo, A.M.; Francia, E.; Stanca, A.M. Drought tolerance improvement in crop plants: An integrated view from breeding to genomics. Field Crop. Res. 2008, 105, 1–14. [</a:t>
            </a:r>
            <a:r>
              <a:rPr lang="en-US" altLang="zh-CN" sz="1400" dirty="0" err="1"/>
              <a:t>CrossRef</a:t>
            </a:r>
            <a:r>
              <a:rPr lang="en-US" altLang="zh-CN" sz="1400" dirty="0"/>
              <a:t>]</a:t>
            </a:r>
          </a:p>
          <a:p>
            <a:r>
              <a:rPr lang="en-US" altLang="zh-CN" sz="1400" dirty="0"/>
              <a:t>[2]. Araus, J.L.; Cairns, J.E. Field high-throughput phenotyping: The new crop breeding frontier. Trends Plant Sci. 2014, 19, 52–61. [</a:t>
            </a:r>
            <a:r>
              <a:rPr lang="en-US" altLang="zh-CN" sz="1400" dirty="0" err="1"/>
              <a:t>CrossRef</a:t>
            </a:r>
            <a:r>
              <a:rPr lang="en-US" altLang="zh-CN" sz="1400" dirty="0"/>
              <a:t>] [PubMed]</a:t>
            </a:r>
            <a:endParaRPr lang="zh-CN" altLang="en-US" sz="1400" dirty="0"/>
          </a:p>
        </p:txBody>
      </p:sp>
    </p:spTree>
    <p:extLst>
      <p:ext uri="{BB962C8B-B14F-4D97-AF65-F5344CB8AC3E}">
        <p14:creationId xmlns:p14="http://schemas.microsoft.com/office/powerpoint/2010/main" val="658051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F0836F5-BFD7-1CD3-6257-E1DE48BD0139}"/>
              </a:ext>
            </a:extLst>
          </p:cNvPr>
          <p:cNvSpPr txBox="1"/>
          <p:nvPr/>
        </p:nvSpPr>
        <p:spPr>
          <a:xfrm>
            <a:off x="4464050" y="2939197"/>
            <a:ext cx="2343911" cy="830997"/>
          </a:xfrm>
          <a:prstGeom prst="rect">
            <a:avLst/>
          </a:prstGeom>
          <a:noFill/>
        </p:spPr>
        <p:txBody>
          <a:bodyPr wrap="none" rtlCol="0">
            <a:spAutoFit/>
          </a:bodyPr>
          <a:lstStyle/>
          <a:p>
            <a:r>
              <a:rPr lang="en-US" altLang="zh-CN" sz="4800" b="1" dirty="0"/>
              <a:t>Thanks</a:t>
            </a:r>
            <a:endParaRPr lang="zh-CN" altLang="en-US" sz="4800" b="1" dirty="0"/>
          </a:p>
        </p:txBody>
      </p:sp>
    </p:spTree>
    <p:extLst>
      <p:ext uri="{BB962C8B-B14F-4D97-AF65-F5344CB8AC3E}">
        <p14:creationId xmlns:p14="http://schemas.microsoft.com/office/powerpoint/2010/main" val="4198158553"/>
      </p:ext>
    </p:extLst>
  </p:cSld>
  <p:clrMapOvr>
    <a:masterClrMapping/>
  </p:clrMapOvr>
</p:sld>
</file>

<file path=ppt/theme/theme1.xml><?xml version="1.0" encoding="utf-8"?>
<a:theme xmlns:a="http://schemas.openxmlformats.org/drawingml/2006/main" name="Politecnico di Milano">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92000">
              <a:srgbClr val="A9CE97"/>
            </a:gs>
            <a:gs pos="94000">
              <a:schemeClr val="accent6">
                <a:lumMod val="105000"/>
                <a:satMod val="103000"/>
                <a:tint val="73000"/>
              </a:schemeClr>
            </a:gs>
            <a:gs pos="100000">
              <a:schemeClr val="accent6">
                <a:lumMod val="105000"/>
                <a:satMod val="109000"/>
                <a:tint val="81000"/>
              </a:schemeClr>
            </a:gs>
          </a:gsLst>
        </a:gradFill>
      </a:spPr>
      <a:bodyPr rtlCol="0" anchor="ctr"/>
      <a:lstStyle>
        <a:defPPr algn="ctr">
          <a:defRPr/>
        </a:defPPr>
      </a:lstStyle>
      <a:style>
        <a:lnRef idx="1">
          <a:schemeClr val="accent6"/>
        </a:lnRef>
        <a:fillRef idx="2">
          <a:schemeClr val="accent6"/>
        </a:fillRef>
        <a:effectRef idx="1">
          <a:schemeClr val="accent6"/>
        </a:effectRef>
        <a:fontRef idx="minor">
          <a:schemeClr val="dk1"/>
        </a:fontRef>
      </a:style>
    </a:spDef>
  </a:objectDefaults>
  <a:extraClrSchemeLst/>
  <a:extLst>
    <a:ext uri="{05A4C25C-085E-4340-85A3-A5531E510DB2}">
      <thm15:themeFamily xmlns:thm15="http://schemas.microsoft.com/office/thememl/2012/main" name="Politecnico di Milano" id="{C049509C-A831-417C-99C2-0889A2F852E5}" vid="{084A2198-BC68-4AD5-A616-34740D2C5D7C}"/>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Politecnico di Milano</Template>
  <TotalTime>3114</TotalTime>
  <Words>2163</Words>
  <Application>Microsoft Office PowerPoint</Application>
  <PresentationFormat>宽屏</PresentationFormat>
  <Paragraphs>179</Paragraphs>
  <Slides>18</Slides>
  <Notes>14</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18</vt:i4>
      </vt:variant>
    </vt:vector>
  </HeadingPairs>
  <TitlesOfParts>
    <vt:vector size="24" baseType="lpstr">
      <vt:lpstr>等线</vt:lpstr>
      <vt:lpstr>Arial</vt:lpstr>
      <vt:lpstr>Calibri</vt:lpstr>
      <vt:lpstr>Cambria Math</vt:lpstr>
      <vt:lpstr>Wingdings</vt:lpstr>
      <vt:lpstr>Politecnico di Milano</vt:lpstr>
      <vt:lpstr>A Comprehensive Framework for Classifying Biotic and Abiotic Stress in Plants</vt:lpstr>
      <vt:lpstr>Contents</vt:lpstr>
      <vt:lpstr>1. Introduction &amp; Background</vt:lpstr>
      <vt:lpstr>1. Introduction &amp; Background</vt:lpstr>
      <vt:lpstr>2. Theoretical Analysis - Core Architecture</vt:lpstr>
      <vt:lpstr>2. Theoretical Foundation: DCNN &amp; Probability Mapping</vt:lpstr>
      <vt:lpstr>2.1 Problem Analysis - The "Resolution Bottleneck"</vt:lpstr>
      <vt:lpstr>2.2 MobileNetV2 Pipeline</vt:lpstr>
      <vt:lpstr>2.3 Example - Soft Voting </vt:lpstr>
      <vt:lpstr>3. Data Engineering &amp; Rigorous Partitioning</vt:lpstr>
      <vt:lpstr>3. Data Engineering &amp; Rigorous Partitioning</vt:lpstr>
      <vt:lpstr>3. Data Engineering &amp; Rigorous Partitioning</vt:lpstr>
      <vt:lpstr>4. Stage 1 - Single Crop Baseline (Phase 1: Binary &amp; 6-Class)</vt:lpstr>
      <vt:lpstr>4. Stage 2 - Multi-Crop Generalization (Phase 2: Universal Training)</vt:lpstr>
      <vt:lpstr>4. Explainable AI (XAI) - Grad-CAM Visual Diagnosis</vt:lpstr>
      <vt:lpstr>5. Limitations &amp; Future Work</vt:lpstr>
      <vt:lpstr>References</vt:lpstr>
      <vt:lpstr>PowerPoint 演示文稿</vt:lpstr>
    </vt:vector>
  </TitlesOfParts>
  <Company>Area Servizi ICT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Alessandro Colleoni</dc:creator>
  <cp:lastModifiedBy>Hong Chen</cp:lastModifiedBy>
  <cp:revision>109</cp:revision>
  <dcterms:created xsi:type="dcterms:W3CDTF">2015-05-26T12:27:57Z</dcterms:created>
  <dcterms:modified xsi:type="dcterms:W3CDTF">2026-02-04T18:27:06Z</dcterms:modified>
</cp:coreProperties>
</file>